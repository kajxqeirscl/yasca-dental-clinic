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7441" autoAdjust="0"/>
  </p:normalViewPr>
  <p:slideViewPr>
    <p:cSldViewPr snapToGrid="0" snapToObjects="1">
      <p:cViewPr>
        <p:scale>
          <a:sx n="66" d="100"/>
          <a:sy n="66" d="100"/>
        </p:scale>
        <p:origin x="1301" y="-3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27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Merhaba</a:t>
            </a:r>
            <a:r>
              <a:rPr dirty="0"/>
              <a:t> </a:t>
            </a:r>
            <a:r>
              <a:rPr dirty="0" err="1"/>
              <a:t>hocam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arkadaşlar</a:t>
            </a:r>
            <a:r>
              <a:rPr dirty="0"/>
              <a:t>. Biz </a:t>
            </a:r>
            <a:r>
              <a:rPr dirty="0" err="1"/>
              <a:t>Grup</a:t>
            </a:r>
            <a:r>
              <a:rPr dirty="0"/>
              <a:t> 4 </a:t>
            </a:r>
            <a:r>
              <a:rPr dirty="0" err="1"/>
              <a:t>olarak</a:t>
            </a:r>
            <a:r>
              <a:rPr dirty="0"/>
              <a:t> "</a:t>
            </a:r>
            <a:r>
              <a:rPr dirty="0" err="1"/>
              <a:t>Yaşca</a:t>
            </a:r>
            <a:r>
              <a:rPr dirty="0"/>
              <a:t> </a:t>
            </a:r>
            <a:r>
              <a:rPr dirty="0" err="1"/>
              <a:t>Diş</a:t>
            </a:r>
            <a:r>
              <a:rPr dirty="0"/>
              <a:t> </a:t>
            </a:r>
            <a:r>
              <a:rPr dirty="0" err="1"/>
              <a:t>Kliniği</a:t>
            </a:r>
            <a:r>
              <a:rPr dirty="0"/>
              <a:t> </a:t>
            </a:r>
            <a:r>
              <a:rPr dirty="0" err="1"/>
              <a:t>Yönetim</a:t>
            </a:r>
            <a:r>
              <a:rPr dirty="0"/>
              <a:t> </a:t>
            </a:r>
            <a:r>
              <a:rPr dirty="0" err="1"/>
              <a:t>Sistemi</a:t>
            </a:r>
            <a:r>
              <a:rPr dirty="0"/>
              <a:t>" </a:t>
            </a:r>
            <a:r>
              <a:rPr dirty="0" err="1"/>
              <a:t>projemizi</a:t>
            </a:r>
            <a:r>
              <a:rPr dirty="0"/>
              <a:t> </a:t>
            </a:r>
            <a:r>
              <a:rPr dirty="0" err="1"/>
              <a:t>sunacağız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Projemiz</a:t>
            </a:r>
            <a:r>
              <a:rPr dirty="0"/>
              <a:t>, </a:t>
            </a:r>
            <a:r>
              <a:rPr dirty="0" err="1"/>
              <a:t>diş</a:t>
            </a:r>
            <a:r>
              <a:rPr dirty="0"/>
              <a:t> </a:t>
            </a:r>
            <a:r>
              <a:rPr dirty="0" err="1"/>
              <a:t>kliniklerinin</a:t>
            </a:r>
            <a:r>
              <a:rPr dirty="0"/>
              <a:t> </a:t>
            </a:r>
            <a:r>
              <a:rPr dirty="0" err="1"/>
              <a:t>günlük</a:t>
            </a:r>
            <a:r>
              <a:rPr dirty="0"/>
              <a:t> </a:t>
            </a:r>
            <a:r>
              <a:rPr dirty="0" err="1"/>
              <a:t>operasyonlarını</a:t>
            </a:r>
            <a:r>
              <a:rPr dirty="0"/>
              <a:t> </a:t>
            </a:r>
            <a:r>
              <a:rPr dirty="0" err="1"/>
              <a:t>dijitalleştirmek</a:t>
            </a:r>
            <a:r>
              <a:rPr dirty="0"/>
              <a:t> </a:t>
            </a:r>
            <a:r>
              <a:rPr dirty="0" err="1"/>
              <a:t>amacıyla</a:t>
            </a:r>
            <a:r>
              <a:rPr dirty="0"/>
              <a:t> </a:t>
            </a:r>
            <a:r>
              <a:rPr dirty="0" err="1"/>
              <a:t>geliştirdiğimiz</a:t>
            </a:r>
            <a:r>
              <a:rPr dirty="0"/>
              <a:t> </a:t>
            </a:r>
            <a:r>
              <a:rPr dirty="0" err="1"/>
              <a:t>çok-kiracılı</a:t>
            </a:r>
            <a:r>
              <a:rPr dirty="0"/>
              <a:t> (multi-tenant) </a:t>
            </a:r>
            <a:r>
              <a:rPr dirty="0" err="1"/>
              <a:t>bir</a:t>
            </a:r>
            <a:r>
              <a:rPr dirty="0"/>
              <a:t> SaaS </a:t>
            </a:r>
            <a:r>
              <a:rPr dirty="0" err="1"/>
              <a:t>uygulamasıdır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Django REST Framework </a:t>
            </a:r>
            <a:r>
              <a:rPr dirty="0" err="1"/>
              <a:t>ve</a:t>
            </a:r>
            <a:r>
              <a:rPr dirty="0"/>
              <a:t> React.js </a:t>
            </a:r>
            <a:r>
              <a:rPr dirty="0" err="1"/>
              <a:t>kullanarak</a:t>
            </a:r>
            <a:r>
              <a:rPr dirty="0"/>
              <a:t> </a:t>
            </a:r>
            <a:r>
              <a:rPr dirty="0" err="1"/>
              <a:t>geliştirdik</a:t>
            </a:r>
            <a:r>
              <a:rPr dirty="0"/>
              <a:t>. </a:t>
            </a:r>
            <a:r>
              <a:rPr dirty="0" err="1"/>
              <a:t>Sistem</a:t>
            </a:r>
            <a:r>
              <a:rPr dirty="0"/>
              <a:t>, her </a:t>
            </a:r>
            <a:r>
              <a:rPr dirty="0" err="1"/>
              <a:t>kliniğin</a:t>
            </a:r>
            <a:r>
              <a:rPr dirty="0"/>
              <a:t> </a:t>
            </a:r>
            <a:r>
              <a:rPr dirty="0" err="1"/>
              <a:t>verisini</a:t>
            </a:r>
            <a:r>
              <a:rPr dirty="0"/>
              <a:t> PostgreSQL </a:t>
            </a:r>
            <a:r>
              <a:rPr dirty="0" err="1"/>
              <a:t>şema</a:t>
            </a:r>
            <a:r>
              <a:rPr dirty="0"/>
              <a:t> </a:t>
            </a:r>
            <a:r>
              <a:rPr dirty="0" err="1"/>
              <a:t>izolasyonu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güvenli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şekilde</a:t>
            </a:r>
            <a:r>
              <a:rPr dirty="0"/>
              <a:t> </a:t>
            </a:r>
            <a:r>
              <a:rPr dirty="0" err="1"/>
              <a:t>ayırıyor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Bu </a:t>
            </a:r>
            <a:r>
              <a:rPr dirty="0" err="1"/>
              <a:t>sunumda</a:t>
            </a:r>
            <a:r>
              <a:rPr dirty="0"/>
              <a:t>, </a:t>
            </a:r>
            <a:r>
              <a:rPr dirty="0" err="1"/>
              <a:t>analiz</a:t>
            </a:r>
            <a:r>
              <a:rPr dirty="0"/>
              <a:t> </a:t>
            </a:r>
            <a:r>
              <a:rPr dirty="0" err="1"/>
              <a:t>aşamasından</a:t>
            </a:r>
            <a:r>
              <a:rPr dirty="0"/>
              <a:t> test </a:t>
            </a:r>
            <a:r>
              <a:rPr dirty="0" err="1"/>
              <a:t>sonuçlarına</a:t>
            </a:r>
            <a:r>
              <a:rPr dirty="0"/>
              <a:t> </a:t>
            </a:r>
            <a:r>
              <a:rPr dirty="0" err="1"/>
              <a:t>kadar</a:t>
            </a:r>
            <a:r>
              <a:rPr dirty="0"/>
              <a:t> </a:t>
            </a: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proje</a:t>
            </a:r>
            <a:r>
              <a:rPr dirty="0"/>
              <a:t> </a:t>
            </a:r>
            <a:r>
              <a:rPr dirty="0" err="1"/>
              <a:t>sürecini</a:t>
            </a:r>
            <a:r>
              <a:rPr dirty="0"/>
              <a:t> </a:t>
            </a:r>
            <a:r>
              <a:rPr dirty="0" err="1"/>
              <a:t>sizlerle</a:t>
            </a:r>
            <a:r>
              <a:rPr dirty="0"/>
              <a:t> </a:t>
            </a:r>
            <a:r>
              <a:rPr dirty="0" err="1"/>
              <a:t>paylaşacağız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Sunumumuz 8 ana bölümden oluşuyor:</a:t>
            </a:r>
          </a:p>
          <a:p>
            <a:endParaRPr/>
          </a:p>
          <a:p>
            <a:r>
              <a:t>1. Giriş ve Proje Kapsamı: Projenin ne olduğu, hedefleri ve hedef kullanıcıları.</a:t>
            </a:r>
          </a:p>
          <a:p>
            <a:r>
              <a:t>2. Yazılım Gereksinimleri: 6 fonksiyonel ve 6 fonksiyonel olmayan ister.</a:t>
            </a:r>
          </a:p>
          <a:p>
            <a:r>
              <a:t>3. UML Tasarımı: 6 sekans diyagramı ve 2 sınıf diyagramı ile tasarım modelleme.</a:t>
            </a:r>
          </a:p>
          <a:p>
            <a:r>
              <a:t>4. Teknoloji Karar Analizi (DAR): Django, React, PostgreSQL seçimlerinin nedenleri ve karar matrisleri.</a:t>
            </a:r>
          </a:p>
          <a:p>
            <a:r>
              <a:t>5. İç ve Dış Arayüzler: API kontratları, Swagger dokümantasyonu ve multi-tenant mimari.</a:t>
            </a:r>
          </a:p>
          <a:p>
            <a:r>
              <a:t>6. Birim Test Sonuçları: 5 kritik sınıfta 54 birim testin tamamının PASSED olması.</a:t>
            </a:r>
          </a:p>
          <a:p>
            <a:r>
              <a:t>7. Bakım ve Gelecek Önerileri: Refactoring, yeni özellikler ve versiyon planı.</a:t>
            </a:r>
          </a:p>
          <a:p>
            <a:r>
              <a:t>8. Sonuç: Projenin özeti ve temel çıktılar.</a:t>
            </a:r>
          </a:p>
          <a:p>
            <a:endParaRPr/>
          </a:p>
          <a:p>
            <a:r>
              <a:t>Her bölümü sırasıyla ele alacağız.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Projenin</a:t>
            </a:r>
            <a:r>
              <a:rPr dirty="0"/>
              <a:t> </a:t>
            </a:r>
            <a:r>
              <a:rPr dirty="0" err="1"/>
              <a:t>Amacı</a:t>
            </a:r>
            <a:r>
              <a:rPr dirty="0"/>
              <a:t>:</a:t>
            </a:r>
          </a:p>
          <a:p>
            <a:r>
              <a:rPr lang="en-US" dirty="0"/>
              <a:t>Kucuk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orta</a:t>
            </a:r>
            <a:r>
              <a:rPr lang="en-US" dirty="0"/>
              <a:t> </a:t>
            </a:r>
            <a:r>
              <a:rPr lang="en-US" dirty="0" err="1"/>
              <a:t>olcekli</a:t>
            </a:r>
            <a:r>
              <a:rPr lang="en-US" dirty="0"/>
              <a:t> </a:t>
            </a:r>
            <a:r>
              <a:rPr dirty="0" err="1"/>
              <a:t>Diş</a:t>
            </a:r>
            <a:r>
              <a:rPr dirty="0"/>
              <a:t> </a:t>
            </a:r>
            <a:r>
              <a:rPr dirty="0" err="1"/>
              <a:t>klinikleri</a:t>
            </a:r>
            <a:r>
              <a:rPr lang="en-US" dirty="0" err="1"/>
              <a:t>nin</a:t>
            </a:r>
            <a:r>
              <a:rPr lang="en-US" dirty="0"/>
              <a:t> </a:t>
            </a:r>
            <a:r>
              <a:rPr dirty="0" err="1"/>
              <a:t>birçoğu</a:t>
            </a:r>
            <a:r>
              <a:rPr lang="en-US" dirty="0"/>
              <a:t> </a:t>
            </a:r>
            <a:r>
              <a:rPr lang="en-US" dirty="0" err="1"/>
              <a:t>hala</a:t>
            </a:r>
            <a:r>
              <a:rPr lang="en-US" dirty="0"/>
              <a:t> </a:t>
            </a:r>
            <a:r>
              <a:rPr dirty="0"/>
              <a:t> </a:t>
            </a:r>
            <a:r>
              <a:rPr dirty="0" err="1"/>
              <a:t>kağıt</a:t>
            </a:r>
            <a:r>
              <a:rPr dirty="0"/>
              <a:t> </a:t>
            </a:r>
            <a:r>
              <a:rPr dirty="0" err="1"/>
              <a:t>tabanlı</a:t>
            </a:r>
            <a:r>
              <a:rPr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dirty="0" err="1"/>
              <a:t>kopuk</a:t>
            </a:r>
            <a:r>
              <a:rPr lang="en-US" dirty="0"/>
              <a:t> </a:t>
            </a:r>
            <a:r>
              <a:rPr lang="en-US" dirty="0" err="1"/>
              <a:t>yazilim</a:t>
            </a:r>
            <a:r>
              <a:rPr dirty="0"/>
              <a:t> </a:t>
            </a:r>
            <a:r>
              <a:rPr dirty="0" err="1"/>
              <a:t>sistemlerle</a:t>
            </a:r>
            <a:r>
              <a:rPr lang="en-US" dirty="0"/>
              <a:t> </a:t>
            </a:r>
            <a:r>
              <a:rPr dirty="0"/>
              <a:t> </a:t>
            </a:r>
            <a:r>
              <a:rPr dirty="0" err="1"/>
              <a:t>çalışıyor</a:t>
            </a:r>
            <a:r>
              <a:rPr dirty="0"/>
              <a:t>. Bu durum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kaybı</a:t>
            </a:r>
            <a:r>
              <a:rPr dirty="0"/>
              <a:t>, </a:t>
            </a:r>
            <a:r>
              <a:rPr dirty="0" err="1"/>
              <a:t>randevu</a:t>
            </a:r>
            <a:r>
              <a:rPr dirty="0"/>
              <a:t> </a:t>
            </a:r>
            <a:r>
              <a:rPr dirty="0" err="1"/>
              <a:t>çakışması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güvenlik</a:t>
            </a:r>
            <a:r>
              <a:rPr dirty="0"/>
              <a:t> </a:t>
            </a:r>
            <a:r>
              <a:rPr dirty="0" err="1"/>
              <a:t>açıkları</a:t>
            </a:r>
            <a:r>
              <a:rPr dirty="0"/>
              <a:t> </a:t>
            </a:r>
            <a:r>
              <a:rPr dirty="0" err="1"/>
              <a:t>gibi</a:t>
            </a:r>
            <a:r>
              <a:rPr dirty="0"/>
              <a:t> </a:t>
            </a:r>
            <a:r>
              <a:rPr dirty="0" err="1"/>
              <a:t>sorunlara</a:t>
            </a:r>
            <a:r>
              <a:rPr dirty="0"/>
              <a:t> </a:t>
            </a:r>
            <a:r>
              <a:rPr dirty="0" err="1"/>
              <a:t>yol</a:t>
            </a:r>
            <a:r>
              <a:rPr dirty="0"/>
              <a:t> </a:t>
            </a:r>
            <a:r>
              <a:rPr dirty="0" err="1"/>
              <a:t>açıyor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Yaşca</a:t>
            </a:r>
            <a:r>
              <a:rPr dirty="0"/>
              <a:t> </a:t>
            </a:r>
            <a:r>
              <a:rPr dirty="0" err="1"/>
              <a:t>Diş</a:t>
            </a:r>
            <a:r>
              <a:rPr dirty="0"/>
              <a:t> </a:t>
            </a:r>
            <a:r>
              <a:rPr dirty="0" err="1"/>
              <a:t>Kliniği</a:t>
            </a:r>
            <a:r>
              <a:rPr dirty="0"/>
              <a:t> </a:t>
            </a:r>
            <a:r>
              <a:rPr dirty="0" err="1"/>
              <a:t>Yönetim</a:t>
            </a:r>
            <a:r>
              <a:rPr dirty="0"/>
              <a:t> </a:t>
            </a:r>
            <a:r>
              <a:rPr dirty="0" err="1"/>
              <a:t>Sistemi</a:t>
            </a:r>
            <a:r>
              <a:rPr lang="en-US" dirty="0" err="1"/>
              <a:t>ni</a:t>
            </a:r>
            <a:r>
              <a:rPr dirty="0"/>
              <a:t>, </a:t>
            </a: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bu</a:t>
            </a:r>
            <a:r>
              <a:rPr dirty="0"/>
              <a:t> </a:t>
            </a:r>
            <a:r>
              <a:rPr dirty="0" err="1"/>
              <a:t>sorunları</a:t>
            </a:r>
            <a:r>
              <a:rPr dirty="0"/>
              <a:t> </a:t>
            </a:r>
            <a:r>
              <a:rPr dirty="0" err="1"/>
              <a:t>çözmek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tasarlandı</a:t>
            </a:r>
            <a:r>
              <a:rPr lang="en-US" dirty="0" err="1"/>
              <a:t>k</a:t>
            </a:r>
            <a:r>
              <a:rPr dirty="0"/>
              <a:t>. Hasta </a:t>
            </a:r>
            <a:r>
              <a:rPr dirty="0" err="1"/>
              <a:t>kaydı</a:t>
            </a:r>
            <a:r>
              <a:rPr dirty="0"/>
              <a:t>, </a:t>
            </a:r>
            <a:r>
              <a:rPr dirty="0" err="1"/>
              <a:t>randevu</a:t>
            </a:r>
            <a:r>
              <a:rPr dirty="0"/>
              <a:t> </a:t>
            </a:r>
            <a:r>
              <a:rPr dirty="0" err="1"/>
              <a:t>yönetimi</a:t>
            </a:r>
            <a:r>
              <a:rPr dirty="0"/>
              <a:t>, </a:t>
            </a:r>
            <a:r>
              <a:rPr dirty="0" err="1"/>
              <a:t>tedavi</a:t>
            </a:r>
            <a:r>
              <a:rPr dirty="0"/>
              <a:t> </a:t>
            </a:r>
            <a:r>
              <a:rPr dirty="0" err="1"/>
              <a:t>takibi</a:t>
            </a:r>
            <a:r>
              <a:rPr dirty="0"/>
              <a:t>, </a:t>
            </a:r>
            <a:r>
              <a:rPr dirty="0" err="1"/>
              <a:t>dijital</a:t>
            </a:r>
            <a:r>
              <a:rPr dirty="0"/>
              <a:t> </a:t>
            </a:r>
            <a:r>
              <a:rPr dirty="0" err="1"/>
              <a:t>diş</a:t>
            </a:r>
            <a:r>
              <a:rPr dirty="0"/>
              <a:t> </a:t>
            </a:r>
            <a:r>
              <a:rPr dirty="0" err="1"/>
              <a:t>şeması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finansal</a:t>
            </a:r>
            <a:r>
              <a:rPr dirty="0"/>
              <a:t> </a:t>
            </a:r>
            <a:r>
              <a:rPr dirty="0" err="1"/>
              <a:t>takip</a:t>
            </a:r>
            <a:r>
              <a:rPr dirty="0"/>
              <a:t> </a:t>
            </a:r>
            <a:r>
              <a:rPr dirty="0" err="1"/>
              <a:t>modüllerini</a:t>
            </a:r>
            <a:r>
              <a:rPr dirty="0"/>
              <a:t>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platformda</a:t>
            </a:r>
            <a:r>
              <a:rPr dirty="0"/>
              <a:t> </a:t>
            </a:r>
            <a:r>
              <a:rPr dirty="0" err="1"/>
              <a:t>sunuyor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En </a:t>
            </a:r>
            <a:r>
              <a:rPr dirty="0" err="1"/>
              <a:t>önemli</a:t>
            </a:r>
            <a:r>
              <a:rPr dirty="0"/>
              <a:t> </a:t>
            </a:r>
            <a:r>
              <a:rPr dirty="0" err="1"/>
              <a:t>özelliği</a:t>
            </a:r>
            <a:r>
              <a:rPr dirty="0"/>
              <a:t>: </a:t>
            </a:r>
            <a:r>
              <a:rPr dirty="0" err="1"/>
              <a:t>Çok-kiracılı</a:t>
            </a:r>
            <a:r>
              <a:rPr dirty="0"/>
              <a:t> (multi-tenant) SaaS </a:t>
            </a:r>
            <a:r>
              <a:rPr dirty="0" err="1"/>
              <a:t>mimarisi</a:t>
            </a:r>
            <a:r>
              <a:rPr dirty="0"/>
              <a:t>. Yani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tane</a:t>
            </a:r>
            <a:r>
              <a:rPr dirty="0"/>
              <a:t> </a:t>
            </a:r>
            <a:r>
              <a:rPr dirty="0" err="1"/>
              <a:t>uygulama</a:t>
            </a:r>
            <a:r>
              <a:rPr dirty="0"/>
              <a:t> </a:t>
            </a:r>
            <a:r>
              <a:rPr dirty="0" err="1"/>
              <a:t>kurulur</a:t>
            </a:r>
            <a:r>
              <a:rPr dirty="0"/>
              <a:t> ama her </a:t>
            </a:r>
            <a:r>
              <a:rPr dirty="0" err="1"/>
              <a:t>klinik</a:t>
            </a:r>
            <a:r>
              <a:rPr dirty="0"/>
              <a:t> </a:t>
            </a:r>
            <a:r>
              <a:rPr dirty="0" err="1"/>
              <a:t>kendi</a:t>
            </a:r>
            <a:r>
              <a:rPr dirty="0"/>
              <a:t> </a:t>
            </a:r>
            <a:r>
              <a:rPr dirty="0" err="1"/>
              <a:t>ayrı</a:t>
            </a:r>
            <a:r>
              <a:rPr dirty="0"/>
              <a:t> </a:t>
            </a:r>
            <a:r>
              <a:rPr dirty="0" err="1"/>
              <a:t>alanında</a:t>
            </a:r>
            <a:r>
              <a:rPr dirty="0"/>
              <a:t>, </a:t>
            </a:r>
            <a:r>
              <a:rPr dirty="0" err="1"/>
              <a:t>kendi</a:t>
            </a:r>
            <a:r>
              <a:rPr dirty="0"/>
              <a:t> </a:t>
            </a:r>
            <a:r>
              <a:rPr dirty="0" err="1"/>
              <a:t>verileriyle</a:t>
            </a:r>
            <a:r>
              <a:rPr dirty="0"/>
              <a:t> </a:t>
            </a:r>
            <a:r>
              <a:rPr dirty="0" err="1"/>
              <a:t>çalışır</a:t>
            </a:r>
            <a:r>
              <a:rPr dirty="0"/>
              <a:t>. PostgreSQL </a:t>
            </a:r>
            <a:r>
              <a:rPr dirty="0" err="1"/>
              <a:t>şema</a:t>
            </a:r>
            <a:r>
              <a:rPr dirty="0"/>
              <a:t> </a:t>
            </a:r>
            <a:r>
              <a:rPr dirty="0" err="1"/>
              <a:t>izolasyonu</a:t>
            </a:r>
            <a:r>
              <a:rPr dirty="0"/>
              <a:t> </a:t>
            </a:r>
            <a:r>
              <a:rPr dirty="0" err="1"/>
              <a:t>sayesinde</a:t>
            </a:r>
            <a:r>
              <a:rPr dirty="0"/>
              <a:t> </a:t>
            </a:r>
            <a:r>
              <a:rPr dirty="0" err="1"/>
              <a:t>klinikler</a:t>
            </a:r>
            <a:r>
              <a:rPr dirty="0"/>
              <a:t> </a:t>
            </a:r>
            <a:r>
              <a:rPr dirty="0" err="1"/>
              <a:t>arası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sızıntısı</a:t>
            </a:r>
            <a:r>
              <a:rPr dirty="0"/>
              <a:t> </a:t>
            </a:r>
            <a:r>
              <a:rPr dirty="0" err="1"/>
              <a:t>mimari</a:t>
            </a:r>
            <a:r>
              <a:rPr dirty="0"/>
              <a:t> </a:t>
            </a:r>
            <a:r>
              <a:rPr dirty="0" err="1"/>
              <a:t>düzeyde</a:t>
            </a:r>
            <a:r>
              <a:rPr dirty="0"/>
              <a:t> </a:t>
            </a:r>
            <a:r>
              <a:rPr dirty="0" err="1"/>
              <a:t>imkânsızdır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Hedef</a:t>
            </a:r>
            <a:r>
              <a:rPr dirty="0"/>
              <a:t> </a:t>
            </a:r>
            <a:r>
              <a:rPr dirty="0" err="1"/>
              <a:t>Kullanıcılar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Yönetici</a:t>
            </a:r>
            <a:r>
              <a:rPr dirty="0"/>
              <a:t> (Admin): Klinik </a:t>
            </a:r>
            <a:r>
              <a:rPr dirty="0" err="1"/>
              <a:t>ayarları</a:t>
            </a:r>
            <a:r>
              <a:rPr dirty="0"/>
              <a:t>, </a:t>
            </a:r>
            <a:r>
              <a:rPr dirty="0" err="1"/>
              <a:t>personel</a:t>
            </a:r>
            <a:r>
              <a:rPr dirty="0"/>
              <a:t> </a:t>
            </a:r>
            <a:r>
              <a:rPr dirty="0" err="1"/>
              <a:t>yönetimi</a:t>
            </a:r>
            <a:r>
              <a:rPr dirty="0"/>
              <a:t>, </a:t>
            </a: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verilere</a:t>
            </a:r>
            <a:r>
              <a:rPr dirty="0"/>
              <a:t> </a:t>
            </a:r>
            <a:r>
              <a:rPr dirty="0" err="1"/>
              <a:t>erişim</a:t>
            </a:r>
            <a:endParaRPr dirty="0"/>
          </a:p>
          <a:p>
            <a:r>
              <a:rPr dirty="0"/>
              <a:t>- </a:t>
            </a:r>
            <a:r>
              <a:rPr dirty="0" err="1"/>
              <a:t>Hekim</a:t>
            </a:r>
            <a:r>
              <a:rPr dirty="0"/>
              <a:t>: Kendi </a:t>
            </a:r>
            <a:r>
              <a:rPr dirty="0" err="1"/>
              <a:t>hastaları</a:t>
            </a:r>
            <a:r>
              <a:rPr dirty="0"/>
              <a:t>, </a:t>
            </a:r>
            <a:r>
              <a:rPr dirty="0" err="1"/>
              <a:t>tedavi</a:t>
            </a:r>
            <a:r>
              <a:rPr dirty="0"/>
              <a:t> </a:t>
            </a:r>
            <a:r>
              <a:rPr dirty="0" err="1"/>
              <a:t>girişi</a:t>
            </a:r>
            <a:r>
              <a:rPr dirty="0"/>
              <a:t>, </a:t>
            </a:r>
            <a:r>
              <a:rPr dirty="0" err="1"/>
              <a:t>dijital</a:t>
            </a:r>
            <a:r>
              <a:rPr dirty="0"/>
              <a:t> </a:t>
            </a:r>
            <a:r>
              <a:rPr dirty="0" err="1"/>
              <a:t>odontogram</a:t>
            </a:r>
            <a:r>
              <a:rPr dirty="0"/>
              <a:t>, dashboard</a:t>
            </a:r>
          </a:p>
          <a:p>
            <a:r>
              <a:rPr dirty="0"/>
              <a:t>- </a:t>
            </a:r>
            <a:r>
              <a:rPr dirty="0" err="1"/>
              <a:t>Asistan</a:t>
            </a:r>
            <a:r>
              <a:rPr dirty="0"/>
              <a:t>: Hasta </a:t>
            </a:r>
            <a:r>
              <a:rPr dirty="0" err="1"/>
              <a:t>kaydı</a:t>
            </a:r>
            <a:r>
              <a:rPr dirty="0"/>
              <a:t>, </a:t>
            </a:r>
            <a:r>
              <a:rPr dirty="0" err="1"/>
              <a:t>randevu</a:t>
            </a:r>
            <a:r>
              <a:rPr dirty="0"/>
              <a:t> </a:t>
            </a:r>
            <a:r>
              <a:rPr dirty="0" err="1"/>
              <a:t>oluşturma</a:t>
            </a:r>
            <a:r>
              <a:rPr dirty="0"/>
              <a:t>, </a:t>
            </a:r>
            <a:r>
              <a:rPr dirty="0" err="1"/>
              <a:t>ödeme</a:t>
            </a:r>
            <a:r>
              <a:rPr dirty="0"/>
              <a:t> </a:t>
            </a:r>
            <a:r>
              <a:rPr dirty="0" err="1"/>
              <a:t>girişi</a:t>
            </a:r>
            <a:endParaRPr dirty="0"/>
          </a:p>
          <a:p>
            <a:endParaRPr dirty="0"/>
          </a:p>
          <a:p>
            <a:r>
              <a:rPr dirty="0"/>
              <a:t>Kritik </a:t>
            </a:r>
            <a:r>
              <a:rPr dirty="0" err="1"/>
              <a:t>Başarı</a:t>
            </a:r>
            <a:r>
              <a:rPr dirty="0"/>
              <a:t> </a:t>
            </a:r>
            <a:r>
              <a:rPr dirty="0" err="1"/>
              <a:t>Kriterleri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: </a:t>
            </a:r>
            <a:r>
              <a:rPr dirty="0" err="1"/>
              <a:t>Randevu</a:t>
            </a:r>
            <a:r>
              <a:rPr dirty="0"/>
              <a:t> </a:t>
            </a:r>
            <a:r>
              <a:rPr dirty="0" err="1"/>
              <a:t>çakışması</a:t>
            </a:r>
            <a:r>
              <a:rPr dirty="0"/>
              <a:t> </a:t>
            </a:r>
            <a:r>
              <a:rPr dirty="0" err="1"/>
              <a:t>sıfır</a:t>
            </a:r>
            <a:r>
              <a:rPr dirty="0"/>
              <a:t> </a:t>
            </a:r>
            <a:r>
              <a:rPr dirty="0" err="1"/>
              <a:t>olmalı</a:t>
            </a:r>
            <a:r>
              <a:rPr dirty="0"/>
              <a:t>,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sızıntısı</a:t>
            </a:r>
            <a:r>
              <a:rPr dirty="0"/>
              <a:t> </a:t>
            </a:r>
            <a:r>
              <a:rPr dirty="0" err="1"/>
              <a:t>olmamalı</a:t>
            </a:r>
            <a:r>
              <a:rPr dirty="0"/>
              <a:t>, API </a:t>
            </a:r>
            <a:r>
              <a:rPr dirty="0" err="1"/>
              <a:t>yanıt</a:t>
            </a:r>
            <a:r>
              <a:rPr dirty="0"/>
              <a:t> </a:t>
            </a:r>
            <a:r>
              <a:rPr dirty="0" err="1"/>
              <a:t>süresi</a:t>
            </a:r>
            <a:r>
              <a:rPr dirty="0"/>
              <a:t> 2 </a:t>
            </a:r>
            <a:r>
              <a:rPr dirty="0" err="1"/>
              <a:t>saniyenin</a:t>
            </a:r>
            <a:r>
              <a:rPr dirty="0"/>
              <a:t> </a:t>
            </a:r>
            <a:r>
              <a:rPr dirty="0" err="1"/>
              <a:t>altında</a:t>
            </a:r>
            <a:r>
              <a:rPr dirty="0"/>
              <a:t> </a:t>
            </a:r>
            <a:r>
              <a:rPr dirty="0" err="1"/>
              <a:t>olmalı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54 </a:t>
            </a:r>
            <a:r>
              <a:rPr dirty="0" err="1"/>
              <a:t>birim</a:t>
            </a:r>
            <a:r>
              <a:rPr dirty="0"/>
              <a:t> test </a:t>
            </a:r>
            <a:r>
              <a:rPr dirty="0" err="1"/>
              <a:t>geçmeli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endpointler</a:t>
            </a:r>
            <a:r>
              <a:rPr dirty="0"/>
              <a:t> Swagger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dokümante</a:t>
            </a:r>
            <a:r>
              <a:rPr dirty="0"/>
              <a:t> </a:t>
            </a:r>
            <a:r>
              <a:rPr dirty="0" err="1"/>
              <a:t>edilmeli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Proje</a:t>
            </a:r>
            <a:r>
              <a:rPr dirty="0"/>
              <a:t> </a:t>
            </a:r>
            <a:r>
              <a:rPr dirty="0" err="1"/>
              <a:t>Adımı</a:t>
            </a:r>
            <a:r>
              <a:rPr dirty="0"/>
              <a:t> 1'de </a:t>
            </a:r>
            <a:r>
              <a:rPr dirty="0" err="1"/>
              <a:t>belirlediğimiz</a:t>
            </a:r>
            <a:r>
              <a:rPr dirty="0"/>
              <a:t> 6 </a:t>
            </a:r>
            <a:r>
              <a:rPr dirty="0" err="1"/>
              <a:t>fonksiyonel</a:t>
            </a:r>
            <a:r>
              <a:rPr dirty="0"/>
              <a:t> </a:t>
            </a:r>
            <a:r>
              <a:rPr dirty="0" err="1"/>
              <a:t>ister</a:t>
            </a:r>
            <a:r>
              <a:rPr dirty="0"/>
              <a:t> </a:t>
            </a:r>
            <a:r>
              <a:rPr dirty="0" err="1"/>
              <a:t>şunlardır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FR-01 - </a:t>
            </a:r>
            <a:r>
              <a:rPr dirty="0" err="1"/>
              <a:t>Kimlik</a:t>
            </a:r>
            <a:r>
              <a:rPr dirty="0"/>
              <a:t> </a:t>
            </a:r>
            <a:r>
              <a:rPr dirty="0" err="1"/>
              <a:t>Doğrulama</a:t>
            </a:r>
            <a:r>
              <a:rPr dirty="0"/>
              <a:t>: </a:t>
            </a:r>
            <a:r>
              <a:rPr dirty="0" err="1"/>
              <a:t>Kullanıcı</a:t>
            </a:r>
            <a:r>
              <a:rPr dirty="0"/>
              <a:t> </a:t>
            </a:r>
            <a:r>
              <a:rPr dirty="0" err="1"/>
              <a:t>adı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parola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sisteme</a:t>
            </a:r>
            <a:r>
              <a:rPr dirty="0"/>
              <a:t> </a:t>
            </a:r>
            <a:r>
              <a:rPr dirty="0" err="1"/>
              <a:t>giriş</a:t>
            </a:r>
            <a:r>
              <a:rPr dirty="0"/>
              <a:t> </a:t>
            </a:r>
            <a:r>
              <a:rPr dirty="0" err="1"/>
              <a:t>yapılır</a:t>
            </a:r>
            <a:r>
              <a:rPr dirty="0"/>
              <a:t>, JWT </a:t>
            </a:r>
            <a:r>
              <a:rPr dirty="0" err="1"/>
              <a:t>tabanlı</a:t>
            </a:r>
            <a:r>
              <a:rPr dirty="0"/>
              <a:t> access </a:t>
            </a:r>
            <a:r>
              <a:rPr dirty="0" err="1"/>
              <a:t>ve</a:t>
            </a:r>
            <a:r>
              <a:rPr dirty="0"/>
              <a:t> refresh token </a:t>
            </a:r>
            <a:r>
              <a:rPr dirty="0" err="1"/>
              <a:t>çifti</a:t>
            </a:r>
            <a:r>
              <a:rPr dirty="0"/>
              <a:t> döner. Her API </a:t>
            </a:r>
            <a:r>
              <a:rPr dirty="0" err="1"/>
              <a:t>çağrısında</a:t>
            </a:r>
            <a:r>
              <a:rPr dirty="0"/>
              <a:t> </a:t>
            </a:r>
            <a:r>
              <a:rPr dirty="0" err="1"/>
              <a:t>bu</a:t>
            </a:r>
            <a:r>
              <a:rPr dirty="0"/>
              <a:t> token </a:t>
            </a:r>
            <a:r>
              <a:rPr dirty="0" err="1"/>
              <a:t>kontrol</a:t>
            </a:r>
            <a:r>
              <a:rPr dirty="0"/>
              <a:t> </a:t>
            </a:r>
            <a:r>
              <a:rPr dirty="0" err="1"/>
              <a:t>edilir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FR-02 - Hasta </a:t>
            </a:r>
            <a:r>
              <a:rPr dirty="0" err="1"/>
              <a:t>Yönetimi</a:t>
            </a:r>
            <a:r>
              <a:rPr dirty="0"/>
              <a:t>: Yeni hasta </a:t>
            </a:r>
            <a:r>
              <a:rPr dirty="0" err="1"/>
              <a:t>kaydı</a:t>
            </a:r>
            <a:r>
              <a:rPr dirty="0"/>
              <a:t> </a:t>
            </a:r>
            <a:r>
              <a:rPr dirty="0" err="1"/>
              <a:t>oluşturma</a:t>
            </a:r>
            <a:r>
              <a:rPr dirty="0"/>
              <a:t>, </a:t>
            </a:r>
            <a:r>
              <a:rPr dirty="0" err="1"/>
              <a:t>tıbbi</a:t>
            </a:r>
            <a:r>
              <a:rPr dirty="0"/>
              <a:t> </a:t>
            </a:r>
            <a:r>
              <a:rPr dirty="0" err="1"/>
              <a:t>özgeçmiş</a:t>
            </a:r>
            <a:r>
              <a:rPr dirty="0"/>
              <a:t> </a:t>
            </a:r>
            <a:r>
              <a:rPr dirty="0" err="1"/>
              <a:t>ekleme</a:t>
            </a:r>
            <a:r>
              <a:rPr dirty="0"/>
              <a:t>, </a:t>
            </a:r>
            <a:r>
              <a:rPr dirty="0" err="1"/>
              <a:t>güncelleme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listeleme</a:t>
            </a:r>
            <a:r>
              <a:rPr dirty="0"/>
              <a:t> </a:t>
            </a:r>
            <a:r>
              <a:rPr dirty="0" err="1"/>
              <a:t>işlemleri</a:t>
            </a:r>
            <a:r>
              <a:rPr dirty="0"/>
              <a:t>. Ad, </a:t>
            </a:r>
            <a:r>
              <a:rPr dirty="0" err="1"/>
              <a:t>soyad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telefon</a:t>
            </a:r>
            <a:r>
              <a:rPr dirty="0"/>
              <a:t> </a:t>
            </a:r>
            <a:r>
              <a:rPr dirty="0" err="1"/>
              <a:t>zorunlu</a:t>
            </a:r>
            <a:r>
              <a:rPr dirty="0"/>
              <a:t> </a:t>
            </a:r>
            <a:r>
              <a:rPr dirty="0" err="1"/>
              <a:t>alanlardır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FR-03 - </a:t>
            </a:r>
            <a:r>
              <a:rPr dirty="0" err="1"/>
              <a:t>Randevu</a:t>
            </a:r>
            <a:r>
              <a:rPr dirty="0"/>
              <a:t> </a:t>
            </a:r>
            <a:r>
              <a:rPr dirty="0" err="1"/>
              <a:t>Yönetimi</a:t>
            </a:r>
            <a:r>
              <a:rPr dirty="0"/>
              <a:t>: Bu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kritik</a:t>
            </a:r>
            <a:r>
              <a:rPr dirty="0"/>
              <a:t> </a:t>
            </a:r>
            <a:r>
              <a:rPr dirty="0" err="1"/>
              <a:t>isterimiz</a:t>
            </a:r>
            <a:r>
              <a:rPr dirty="0"/>
              <a:t>. </a:t>
            </a:r>
            <a:r>
              <a:rPr dirty="0" err="1"/>
              <a:t>Randevu</a:t>
            </a:r>
            <a:r>
              <a:rPr dirty="0"/>
              <a:t> </a:t>
            </a:r>
            <a:r>
              <a:rPr dirty="0" err="1"/>
              <a:t>oluşturulurken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otomatik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çakışma</a:t>
            </a:r>
            <a:r>
              <a:rPr dirty="0"/>
              <a:t> </a:t>
            </a:r>
            <a:r>
              <a:rPr dirty="0" err="1"/>
              <a:t>kontrolü</a:t>
            </a:r>
            <a:r>
              <a:rPr dirty="0"/>
              <a:t> </a:t>
            </a:r>
            <a:r>
              <a:rPr dirty="0" err="1"/>
              <a:t>yapar</a:t>
            </a:r>
            <a:r>
              <a:rPr dirty="0"/>
              <a:t>.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hekime</a:t>
            </a:r>
            <a:r>
              <a:rPr dirty="0"/>
              <a:t>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tarih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saatte</a:t>
            </a:r>
            <a:r>
              <a:rPr dirty="0"/>
              <a:t> </a:t>
            </a:r>
            <a:r>
              <a:rPr dirty="0" err="1"/>
              <a:t>ikinci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randevu</a:t>
            </a:r>
            <a:r>
              <a:rPr dirty="0"/>
              <a:t> </a:t>
            </a:r>
            <a:r>
              <a:rPr dirty="0" err="1"/>
              <a:t>girilmesini</a:t>
            </a:r>
            <a:r>
              <a:rPr dirty="0"/>
              <a:t> </a:t>
            </a:r>
            <a:r>
              <a:rPr dirty="0" err="1"/>
              <a:t>engeller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FR-04 - Dashboard: Klinik </a:t>
            </a:r>
            <a:r>
              <a:rPr dirty="0" err="1"/>
              <a:t>personeli</a:t>
            </a:r>
            <a:r>
              <a:rPr dirty="0"/>
              <a:t> </a:t>
            </a:r>
            <a:r>
              <a:rPr dirty="0" err="1"/>
              <a:t>güne</a:t>
            </a:r>
            <a:r>
              <a:rPr dirty="0"/>
              <a:t> </a:t>
            </a:r>
            <a:r>
              <a:rPr dirty="0" err="1"/>
              <a:t>başlarken</a:t>
            </a:r>
            <a:r>
              <a:rPr dirty="0"/>
              <a:t> </a:t>
            </a:r>
            <a:r>
              <a:rPr dirty="0" err="1"/>
              <a:t>bugünkü</a:t>
            </a:r>
            <a:r>
              <a:rPr dirty="0"/>
              <a:t> </a:t>
            </a:r>
            <a:r>
              <a:rPr dirty="0" err="1"/>
              <a:t>randevuları</a:t>
            </a:r>
            <a:r>
              <a:rPr dirty="0"/>
              <a:t>, </a:t>
            </a:r>
            <a:r>
              <a:rPr dirty="0" err="1"/>
              <a:t>tamamlanan</a:t>
            </a:r>
            <a:r>
              <a:rPr dirty="0"/>
              <a:t> </a:t>
            </a:r>
            <a:r>
              <a:rPr dirty="0" err="1"/>
              <a:t>işlem</a:t>
            </a:r>
            <a:r>
              <a:rPr dirty="0"/>
              <a:t> </a:t>
            </a:r>
            <a:r>
              <a:rPr dirty="0" err="1"/>
              <a:t>sayısını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aktif</a:t>
            </a:r>
            <a:r>
              <a:rPr dirty="0"/>
              <a:t> hasta </a:t>
            </a:r>
            <a:r>
              <a:rPr dirty="0" err="1"/>
              <a:t>sayısını</a:t>
            </a:r>
            <a:r>
              <a:rPr dirty="0"/>
              <a:t>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ekrandan</a:t>
            </a:r>
            <a:r>
              <a:rPr dirty="0"/>
              <a:t> </a:t>
            </a:r>
            <a:r>
              <a:rPr dirty="0" err="1"/>
              <a:t>görür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FR-05 - Tedavi </a:t>
            </a:r>
            <a:r>
              <a:rPr dirty="0" err="1"/>
              <a:t>ve</a:t>
            </a:r>
            <a:r>
              <a:rPr dirty="0"/>
              <a:t> Finans: Tedavi </a:t>
            </a:r>
            <a:r>
              <a:rPr dirty="0" err="1"/>
              <a:t>türü</a:t>
            </a:r>
            <a:r>
              <a:rPr dirty="0"/>
              <a:t> </a:t>
            </a:r>
            <a:r>
              <a:rPr dirty="0" err="1"/>
              <a:t>seçimi</a:t>
            </a:r>
            <a:r>
              <a:rPr dirty="0"/>
              <a:t>, </a:t>
            </a:r>
            <a:r>
              <a:rPr dirty="0" err="1"/>
              <a:t>diş</a:t>
            </a:r>
            <a:r>
              <a:rPr dirty="0"/>
              <a:t> </a:t>
            </a:r>
            <a:r>
              <a:rPr dirty="0" err="1"/>
              <a:t>numarası</a:t>
            </a:r>
            <a:r>
              <a:rPr dirty="0"/>
              <a:t> </a:t>
            </a:r>
            <a:r>
              <a:rPr dirty="0" err="1"/>
              <a:t>girişi</a:t>
            </a:r>
            <a:r>
              <a:rPr dirty="0"/>
              <a:t>, </a:t>
            </a:r>
            <a:r>
              <a:rPr dirty="0" err="1"/>
              <a:t>fiyat</a:t>
            </a:r>
            <a:r>
              <a:rPr dirty="0"/>
              <a:t> </a:t>
            </a:r>
            <a:r>
              <a:rPr dirty="0" err="1"/>
              <a:t>belirleme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ödeme</a:t>
            </a:r>
            <a:r>
              <a:rPr dirty="0"/>
              <a:t> </a:t>
            </a:r>
            <a:r>
              <a:rPr dirty="0" err="1"/>
              <a:t>kaydı</a:t>
            </a:r>
            <a:r>
              <a:rPr dirty="0"/>
              <a:t> </a:t>
            </a:r>
            <a:r>
              <a:rPr dirty="0" err="1"/>
              <a:t>entegre</a:t>
            </a:r>
            <a:r>
              <a:rPr dirty="0"/>
              <a:t> </a:t>
            </a:r>
            <a:r>
              <a:rPr dirty="0" err="1"/>
              <a:t>çalışır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FR-06 -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Yönetimi</a:t>
            </a:r>
            <a:r>
              <a:rPr dirty="0"/>
              <a:t>: </a:t>
            </a:r>
            <a:r>
              <a:rPr dirty="0" err="1"/>
              <a:t>Sadece</a:t>
            </a:r>
            <a:r>
              <a:rPr dirty="0"/>
              <a:t> Admin </a:t>
            </a:r>
            <a:r>
              <a:rPr dirty="0" err="1"/>
              <a:t>rolündeki</a:t>
            </a:r>
            <a:r>
              <a:rPr dirty="0"/>
              <a:t> </a:t>
            </a:r>
            <a:r>
              <a:rPr dirty="0" err="1"/>
              <a:t>kullanıcı</a:t>
            </a:r>
            <a:r>
              <a:rPr dirty="0"/>
              <a:t> </a:t>
            </a:r>
            <a:r>
              <a:rPr dirty="0" err="1"/>
              <a:t>klinik</a:t>
            </a:r>
            <a:r>
              <a:rPr dirty="0"/>
              <a:t> </a:t>
            </a:r>
            <a:r>
              <a:rPr dirty="0" err="1"/>
              <a:t>çalışma</a:t>
            </a:r>
            <a:r>
              <a:rPr dirty="0"/>
              <a:t> </a:t>
            </a:r>
            <a:r>
              <a:rPr dirty="0" err="1"/>
              <a:t>saatlerini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ayarlarını</a:t>
            </a:r>
            <a:r>
              <a:rPr dirty="0"/>
              <a:t> </a:t>
            </a:r>
            <a:r>
              <a:rPr dirty="0" err="1"/>
              <a:t>güncelleyebilir</a:t>
            </a:r>
            <a:r>
              <a:rPr dirty="0"/>
              <a:t>. </a:t>
            </a:r>
            <a:r>
              <a:rPr dirty="0" err="1"/>
              <a:t>Yetki</a:t>
            </a:r>
            <a:r>
              <a:rPr dirty="0"/>
              <a:t> </a:t>
            </a:r>
            <a:r>
              <a:rPr dirty="0" err="1"/>
              <a:t>kontrolü</a:t>
            </a:r>
            <a:r>
              <a:rPr dirty="0"/>
              <a:t> 403 Forbidden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sağlanır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Fonksiyonel olmayan isterlerimiz, mimari kararlarımızın doğrudan gerekçesini oluşturur:</a:t>
            </a:r>
          </a:p>
          <a:p>
            <a:endParaRPr/>
          </a:p>
          <a:p>
            <a:r>
              <a:t>NFR-01 Performans: API sorgu süresinin 2 saniyenin altında olması hedeflenmiştir. Dashboard gibi aggregate veri dönen endpointlerde backend tarafında önceden hesaplama yapılır.</a:t>
            </a:r>
          </a:p>
          <a:p>
            <a:endParaRPr/>
          </a:p>
          <a:p>
            <a:r>
              <a:t>NFR-02 Güvenlik: JWT tabanlı kimlik doğrulama ve RBAC yani Role-Based Access Control ile yetkilendirme. Hekim sadece kendi hastalarını görebilir.</a:t>
            </a:r>
          </a:p>
          <a:p>
            <a:endParaRPr/>
          </a:p>
          <a:p>
            <a:r>
              <a:t>NFR-03 Veri İzolasyonu: django-tenants kütüphanesi ile her klinik PostgreSQL'de ayrı bir şemada tutulur. Bu fiziksel izolasyondur, yazılımsal değil.</a:t>
            </a:r>
          </a:p>
          <a:p>
            <a:endParaRPr/>
          </a:p>
          <a:p>
            <a:r>
              <a:t>NFR-04 Ölçeklenebilirlik: Birden fazla kliniğin eşzamanlı kullanımı desteklenir. Yeni bir klinik eklemek, yeni bir PostgreSQL şeması oluşturmak kadar basittir.</a:t>
            </a:r>
          </a:p>
          <a:p>
            <a:endParaRPr/>
          </a:p>
          <a:p>
            <a:r>
              <a:t>NFR-05 Bakım Yapılabilirlik: Modüler mimari sayesinde her modül bağımsız geliştirilebilir. Yüksek test kapsamı ile değişikliklerin yan etkilerini kontrol ediyoruz.</a:t>
            </a:r>
          </a:p>
          <a:p>
            <a:endParaRPr/>
          </a:p>
          <a:p>
            <a:r>
              <a:t>NFR-06 Kullanılabilirlik: Türkçe arayüz, sezgisel kullanım. React bileşen tabanlı mimarisi ile tutarlı kullanıcı deneyimi.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Proje</a:t>
            </a:r>
            <a:r>
              <a:rPr dirty="0"/>
              <a:t> </a:t>
            </a:r>
            <a:r>
              <a:rPr dirty="0" err="1"/>
              <a:t>Adımı</a:t>
            </a:r>
            <a:r>
              <a:rPr dirty="0"/>
              <a:t> 1'de </a:t>
            </a:r>
            <a:r>
              <a:rPr dirty="0" err="1"/>
              <a:t>sistemi</a:t>
            </a:r>
            <a:r>
              <a:rPr dirty="0"/>
              <a:t> Boundary-Control-Entity </a:t>
            </a:r>
            <a:r>
              <a:rPr dirty="0" err="1"/>
              <a:t>ayrımıyla</a:t>
            </a:r>
            <a:r>
              <a:rPr dirty="0"/>
              <a:t> </a:t>
            </a:r>
            <a:r>
              <a:rPr dirty="0" err="1"/>
              <a:t>modelledik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Sol </a:t>
            </a:r>
            <a:r>
              <a:rPr dirty="0" err="1"/>
              <a:t>tarafta</a:t>
            </a:r>
            <a:r>
              <a:rPr dirty="0"/>
              <a:t> </a:t>
            </a:r>
            <a:r>
              <a:rPr dirty="0" err="1"/>
              <a:t>Sekans</a:t>
            </a:r>
            <a:r>
              <a:rPr dirty="0"/>
              <a:t> </a:t>
            </a:r>
            <a:r>
              <a:rPr dirty="0" err="1"/>
              <a:t>Diyagramlarımız</a:t>
            </a:r>
            <a:r>
              <a:rPr dirty="0"/>
              <a:t> var - </a:t>
            </a:r>
            <a:r>
              <a:rPr dirty="0" err="1"/>
              <a:t>bunlar</a:t>
            </a:r>
            <a:r>
              <a:rPr dirty="0"/>
              <a:t> </a:t>
            </a:r>
            <a:r>
              <a:rPr dirty="0" err="1"/>
              <a:t>sistemin</a:t>
            </a:r>
            <a:r>
              <a:rPr dirty="0"/>
              <a:t> </a:t>
            </a:r>
            <a:r>
              <a:rPr dirty="0" err="1"/>
              <a:t>dinamik</a:t>
            </a:r>
            <a:r>
              <a:rPr dirty="0"/>
              <a:t> </a:t>
            </a:r>
            <a:r>
              <a:rPr dirty="0" err="1"/>
              <a:t>modelini</a:t>
            </a:r>
            <a:r>
              <a:rPr dirty="0"/>
              <a:t> </a:t>
            </a:r>
            <a:r>
              <a:rPr dirty="0" err="1"/>
              <a:t>gösterir</a:t>
            </a:r>
            <a:r>
              <a:rPr dirty="0"/>
              <a:t>:</a:t>
            </a:r>
          </a:p>
          <a:p>
            <a:r>
              <a:rPr dirty="0"/>
              <a:t>- Her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fonksiyonel</a:t>
            </a:r>
            <a:r>
              <a:rPr dirty="0"/>
              <a:t> </a:t>
            </a:r>
            <a:r>
              <a:rPr dirty="0" err="1"/>
              <a:t>gereksinim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ayrı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sekans</a:t>
            </a:r>
            <a:r>
              <a:rPr dirty="0"/>
              <a:t> </a:t>
            </a:r>
            <a:r>
              <a:rPr dirty="0" err="1"/>
              <a:t>diyagramı</a:t>
            </a:r>
            <a:r>
              <a:rPr dirty="0"/>
              <a:t> </a:t>
            </a:r>
            <a:r>
              <a:rPr dirty="0" err="1"/>
              <a:t>çizdik</a:t>
            </a:r>
            <a:r>
              <a:rPr dirty="0"/>
              <a:t>, </a:t>
            </a:r>
            <a:r>
              <a:rPr dirty="0" err="1"/>
              <a:t>toplamda</a:t>
            </a:r>
            <a:r>
              <a:rPr dirty="0"/>
              <a:t> 6 </a:t>
            </a:r>
            <a:r>
              <a:rPr dirty="0" err="1"/>
              <a:t>tane</a:t>
            </a:r>
            <a:r>
              <a:rPr dirty="0"/>
              <a:t>.</a:t>
            </a:r>
          </a:p>
          <a:p>
            <a:r>
              <a:rPr dirty="0"/>
              <a:t>- Bu </a:t>
            </a:r>
            <a:r>
              <a:rPr dirty="0" err="1"/>
              <a:t>diyagramlar</a:t>
            </a:r>
            <a:r>
              <a:rPr dirty="0"/>
              <a:t> </a:t>
            </a:r>
            <a:r>
              <a:rPr dirty="0" err="1"/>
              <a:t>nesneler</a:t>
            </a:r>
            <a:r>
              <a:rPr dirty="0"/>
              <a:t> </a:t>
            </a:r>
            <a:r>
              <a:rPr dirty="0" err="1"/>
              <a:t>arası</a:t>
            </a:r>
            <a:r>
              <a:rPr dirty="0"/>
              <a:t> </a:t>
            </a:r>
            <a:r>
              <a:rPr dirty="0" err="1"/>
              <a:t>mesaj</a:t>
            </a:r>
            <a:r>
              <a:rPr dirty="0"/>
              <a:t> </a:t>
            </a:r>
            <a:r>
              <a:rPr dirty="0" err="1"/>
              <a:t>akışlarını</a:t>
            </a:r>
            <a:r>
              <a:rPr dirty="0"/>
              <a:t>, </a:t>
            </a:r>
            <a:r>
              <a:rPr dirty="0" err="1"/>
              <a:t>hata</a:t>
            </a:r>
            <a:r>
              <a:rPr dirty="0"/>
              <a:t> </a:t>
            </a:r>
            <a:r>
              <a:rPr dirty="0" err="1"/>
              <a:t>durumlarını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alternatif</a:t>
            </a:r>
            <a:r>
              <a:rPr dirty="0"/>
              <a:t> </a:t>
            </a:r>
            <a:r>
              <a:rPr dirty="0" err="1"/>
              <a:t>akışları</a:t>
            </a:r>
            <a:r>
              <a:rPr dirty="0"/>
              <a:t> </a:t>
            </a:r>
            <a:r>
              <a:rPr dirty="0" err="1"/>
              <a:t>modelliyor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Sağ</a:t>
            </a:r>
            <a:r>
              <a:rPr dirty="0"/>
              <a:t> </a:t>
            </a:r>
            <a:r>
              <a:rPr dirty="0" err="1"/>
              <a:t>tarafta</a:t>
            </a:r>
            <a:r>
              <a:rPr dirty="0"/>
              <a:t> </a:t>
            </a:r>
            <a:r>
              <a:rPr dirty="0" err="1"/>
              <a:t>Sınıf</a:t>
            </a:r>
            <a:r>
              <a:rPr dirty="0"/>
              <a:t> </a:t>
            </a:r>
            <a:r>
              <a:rPr dirty="0" err="1"/>
              <a:t>Diyagramlarımız</a:t>
            </a:r>
            <a:r>
              <a:rPr dirty="0"/>
              <a:t> var - </a:t>
            </a:r>
            <a:r>
              <a:rPr dirty="0" err="1"/>
              <a:t>bunlar</a:t>
            </a:r>
            <a:r>
              <a:rPr dirty="0"/>
              <a:t> </a:t>
            </a:r>
            <a:r>
              <a:rPr dirty="0" err="1"/>
              <a:t>statik</a:t>
            </a:r>
            <a:r>
              <a:rPr dirty="0"/>
              <a:t> </a:t>
            </a:r>
            <a:r>
              <a:rPr dirty="0" err="1"/>
              <a:t>modeli</a:t>
            </a:r>
            <a:r>
              <a:rPr dirty="0"/>
              <a:t> </a:t>
            </a:r>
            <a:r>
              <a:rPr dirty="0" err="1"/>
              <a:t>gösterir</a:t>
            </a:r>
            <a:r>
              <a:rPr dirty="0"/>
              <a:t>:</a:t>
            </a:r>
          </a:p>
          <a:p>
            <a:r>
              <a:rPr dirty="0"/>
              <a:t>- Domain </a:t>
            </a:r>
            <a:r>
              <a:rPr dirty="0" err="1"/>
              <a:t>Katmanı</a:t>
            </a:r>
            <a:r>
              <a:rPr dirty="0"/>
              <a:t>: 8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varlığı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aralarındaki</a:t>
            </a:r>
            <a:r>
              <a:rPr dirty="0"/>
              <a:t> </a:t>
            </a:r>
            <a:r>
              <a:rPr dirty="0" err="1"/>
              <a:t>ilişkiler</a:t>
            </a:r>
            <a:r>
              <a:rPr dirty="0"/>
              <a:t> (Association, Composition, Aggregation)</a:t>
            </a:r>
          </a:p>
          <a:p>
            <a:r>
              <a:rPr dirty="0"/>
              <a:t>- </a:t>
            </a:r>
            <a:r>
              <a:rPr dirty="0" err="1"/>
              <a:t>Uygulama</a:t>
            </a:r>
            <a:r>
              <a:rPr dirty="0"/>
              <a:t> </a:t>
            </a:r>
            <a:r>
              <a:rPr dirty="0" err="1"/>
              <a:t>Katmanı</a:t>
            </a:r>
            <a:r>
              <a:rPr dirty="0"/>
              <a:t>: Frontend </a:t>
            </a:r>
            <a:r>
              <a:rPr dirty="0" err="1"/>
              <a:t>bileşenleri</a:t>
            </a:r>
            <a:r>
              <a:rPr dirty="0"/>
              <a:t> (Boundary) </a:t>
            </a:r>
            <a:r>
              <a:rPr dirty="0" err="1"/>
              <a:t>ve</a:t>
            </a:r>
            <a:r>
              <a:rPr dirty="0"/>
              <a:t> Backend </a:t>
            </a:r>
            <a:r>
              <a:rPr dirty="0" err="1"/>
              <a:t>kontrolcüler</a:t>
            </a:r>
            <a:r>
              <a:rPr dirty="0"/>
              <a:t> (Control)</a:t>
            </a:r>
          </a:p>
          <a:p>
            <a:endParaRPr dirty="0"/>
          </a:p>
          <a:p>
            <a:r>
              <a:rPr dirty="0" err="1"/>
              <a:t>Tasarım</a:t>
            </a:r>
            <a:r>
              <a:rPr dirty="0"/>
              <a:t> </a:t>
            </a:r>
            <a:r>
              <a:rPr dirty="0" err="1"/>
              <a:t>tutarlılığı</a:t>
            </a:r>
            <a:r>
              <a:rPr dirty="0"/>
              <a:t> </a:t>
            </a:r>
            <a:r>
              <a:rPr dirty="0" err="1"/>
              <a:t>konusunda</a:t>
            </a:r>
            <a:r>
              <a:rPr dirty="0"/>
              <a:t> 3 </a:t>
            </a:r>
            <a:r>
              <a:rPr dirty="0" err="1"/>
              <a:t>önemli</a:t>
            </a:r>
            <a:r>
              <a:rPr dirty="0"/>
              <a:t> </a:t>
            </a:r>
            <a:r>
              <a:rPr dirty="0" err="1"/>
              <a:t>noktamız</a:t>
            </a:r>
            <a:r>
              <a:rPr dirty="0"/>
              <a:t> var:</a:t>
            </a:r>
          </a:p>
          <a:p>
            <a:r>
              <a:rPr dirty="0"/>
              <a:t>1. </a:t>
            </a:r>
            <a:r>
              <a:rPr dirty="0" err="1"/>
              <a:t>Sekans</a:t>
            </a:r>
            <a:r>
              <a:rPr dirty="0"/>
              <a:t> </a:t>
            </a:r>
            <a:r>
              <a:rPr dirty="0" err="1"/>
              <a:t>diyagramlarındaki</a:t>
            </a:r>
            <a:r>
              <a:rPr dirty="0"/>
              <a:t> </a:t>
            </a: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mesajlar</a:t>
            </a:r>
            <a:r>
              <a:rPr dirty="0"/>
              <a:t> (</a:t>
            </a:r>
            <a:r>
              <a:rPr dirty="0" err="1"/>
              <a:t>fetchDashboardToday</a:t>
            </a:r>
            <a:r>
              <a:rPr dirty="0"/>
              <a:t>, </a:t>
            </a:r>
            <a:r>
              <a:rPr dirty="0" err="1"/>
              <a:t>createAppointment</a:t>
            </a:r>
            <a:r>
              <a:rPr dirty="0"/>
              <a:t> </a:t>
            </a:r>
            <a:r>
              <a:rPr dirty="0" err="1"/>
              <a:t>gibi</a:t>
            </a:r>
            <a:r>
              <a:rPr dirty="0"/>
              <a:t>), </a:t>
            </a:r>
            <a:r>
              <a:rPr dirty="0" err="1"/>
              <a:t>sınıf</a:t>
            </a:r>
            <a:r>
              <a:rPr dirty="0"/>
              <a:t> </a:t>
            </a:r>
            <a:r>
              <a:rPr dirty="0" err="1"/>
              <a:t>diyagramındaki</a:t>
            </a:r>
            <a:r>
              <a:rPr dirty="0"/>
              <a:t> </a:t>
            </a:r>
            <a:r>
              <a:rPr dirty="0" err="1"/>
              <a:t>ApiService</a:t>
            </a:r>
            <a:r>
              <a:rPr dirty="0"/>
              <a:t> </a:t>
            </a:r>
            <a:r>
              <a:rPr dirty="0" err="1"/>
              <a:t>metodları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birebir</a:t>
            </a:r>
            <a:r>
              <a:rPr dirty="0"/>
              <a:t> </a:t>
            </a:r>
            <a:r>
              <a:rPr dirty="0" err="1"/>
              <a:t>tanımlanmıştır</a:t>
            </a:r>
            <a:r>
              <a:rPr dirty="0"/>
              <a:t>.</a:t>
            </a:r>
          </a:p>
          <a:p>
            <a:r>
              <a:rPr dirty="0"/>
              <a:t>2. </a:t>
            </a:r>
            <a:r>
              <a:rPr dirty="0" err="1"/>
              <a:t>Sorumlulukların</a:t>
            </a:r>
            <a:r>
              <a:rPr dirty="0"/>
              <a:t> </a:t>
            </a:r>
            <a:r>
              <a:rPr dirty="0" err="1"/>
              <a:t>ayrılığı</a:t>
            </a:r>
            <a:r>
              <a:rPr dirty="0"/>
              <a:t>: Boundary </a:t>
            </a:r>
            <a:r>
              <a:rPr dirty="0" err="1"/>
              <a:t>doğrudan</a:t>
            </a:r>
            <a:r>
              <a:rPr dirty="0"/>
              <a:t> Entity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konuşmaz</a:t>
            </a:r>
            <a:r>
              <a:rPr dirty="0"/>
              <a:t>, </a:t>
            </a:r>
            <a:r>
              <a:rPr dirty="0" err="1"/>
              <a:t>araya</a:t>
            </a:r>
            <a:r>
              <a:rPr dirty="0"/>
              <a:t> Control </a:t>
            </a:r>
            <a:r>
              <a:rPr dirty="0" err="1"/>
              <a:t>girer</a:t>
            </a:r>
            <a:r>
              <a:rPr dirty="0"/>
              <a:t>. Bu MVC/MVT </a:t>
            </a:r>
            <a:r>
              <a:rPr dirty="0" err="1"/>
              <a:t>mimarisine</a:t>
            </a:r>
            <a:r>
              <a:rPr dirty="0"/>
              <a:t> </a:t>
            </a:r>
            <a:r>
              <a:rPr dirty="0" err="1"/>
              <a:t>uygundur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Çokluk</a:t>
            </a:r>
            <a:r>
              <a:rPr dirty="0"/>
              <a:t> </a:t>
            </a:r>
            <a:r>
              <a:rPr dirty="0" err="1"/>
              <a:t>doğrulaması</a:t>
            </a:r>
            <a:r>
              <a:rPr dirty="0"/>
              <a:t>: Clinic </a:t>
            </a:r>
            <a:r>
              <a:rPr dirty="0" err="1"/>
              <a:t>ile</a:t>
            </a:r>
            <a:r>
              <a:rPr dirty="0"/>
              <a:t> Patient </a:t>
            </a:r>
            <a:r>
              <a:rPr dirty="0" err="1"/>
              <a:t>arasında</a:t>
            </a:r>
            <a:r>
              <a:rPr dirty="0"/>
              <a:t> 1'e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ilişki</a:t>
            </a:r>
            <a:r>
              <a:rPr dirty="0"/>
              <a:t>, Patient </a:t>
            </a:r>
            <a:r>
              <a:rPr dirty="0" err="1"/>
              <a:t>ile</a:t>
            </a:r>
            <a:r>
              <a:rPr dirty="0"/>
              <a:t> Anamnesis </a:t>
            </a:r>
            <a:r>
              <a:rPr dirty="0" err="1"/>
              <a:t>arasında</a:t>
            </a:r>
            <a:r>
              <a:rPr dirty="0"/>
              <a:t> 1'e 1 </a:t>
            </a:r>
            <a:r>
              <a:rPr dirty="0" err="1"/>
              <a:t>ilişki</a:t>
            </a:r>
            <a:r>
              <a:rPr dirty="0"/>
              <a:t> </a:t>
            </a:r>
            <a:r>
              <a:rPr dirty="0" err="1"/>
              <a:t>gibi</a:t>
            </a:r>
            <a:r>
              <a:rPr dirty="0"/>
              <a:t> </a:t>
            </a:r>
            <a:r>
              <a:rPr dirty="0" err="1"/>
              <a:t>gerçek</a:t>
            </a:r>
            <a:r>
              <a:rPr dirty="0"/>
              <a:t> </a:t>
            </a:r>
            <a:r>
              <a:rPr dirty="0" err="1"/>
              <a:t>dünyayı</a:t>
            </a:r>
            <a:r>
              <a:rPr dirty="0"/>
              <a:t> </a:t>
            </a:r>
            <a:r>
              <a:rPr dirty="0" err="1"/>
              <a:t>yansıtan</a:t>
            </a:r>
            <a:r>
              <a:rPr dirty="0"/>
              <a:t> </a:t>
            </a:r>
            <a:r>
              <a:rPr dirty="0" err="1"/>
              <a:t>modelleme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Bu </a:t>
            </a:r>
            <a:r>
              <a:rPr dirty="0" err="1"/>
              <a:t>sınıf</a:t>
            </a:r>
            <a:r>
              <a:rPr dirty="0"/>
              <a:t> </a:t>
            </a:r>
            <a:r>
              <a:rPr dirty="0" err="1"/>
              <a:t>diyagramı</a:t>
            </a:r>
            <a:r>
              <a:rPr dirty="0"/>
              <a:t>, </a:t>
            </a:r>
            <a:r>
              <a:rPr dirty="0" err="1"/>
              <a:t>sistemin</a:t>
            </a:r>
            <a:r>
              <a:rPr dirty="0"/>
              <a:t> </a:t>
            </a:r>
            <a:r>
              <a:rPr dirty="0" err="1"/>
              <a:t>veritabanı</a:t>
            </a:r>
            <a:r>
              <a:rPr dirty="0"/>
              <a:t> </a:t>
            </a:r>
            <a:r>
              <a:rPr dirty="0" err="1"/>
              <a:t>tablolarının</a:t>
            </a:r>
            <a:r>
              <a:rPr dirty="0"/>
              <a:t> </a:t>
            </a:r>
            <a:r>
              <a:rPr dirty="0" err="1"/>
              <a:t>nesne</a:t>
            </a:r>
            <a:r>
              <a:rPr dirty="0"/>
              <a:t> </a:t>
            </a:r>
            <a:r>
              <a:rPr dirty="0" err="1"/>
              <a:t>tabanlı</a:t>
            </a:r>
            <a:r>
              <a:rPr dirty="0"/>
              <a:t> </a:t>
            </a:r>
            <a:r>
              <a:rPr dirty="0" err="1"/>
              <a:t>karşılıklarını</a:t>
            </a:r>
            <a:r>
              <a:rPr dirty="0"/>
              <a:t> </a:t>
            </a:r>
            <a:r>
              <a:rPr dirty="0" err="1"/>
              <a:t>gösterir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Soldaki</a:t>
            </a:r>
            <a:r>
              <a:rPr dirty="0"/>
              <a:t> </a:t>
            </a:r>
            <a:r>
              <a:rPr dirty="0" err="1"/>
              <a:t>görsel</a:t>
            </a:r>
            <a:r>
              <a:rPr dirty="0"/>
              <a:t>, </a:t>
            </a:r>
            <a:r>
              <a:rPr dirty="0" err="1"/>
              <a:t>asıl</a:t>
            </a:r>
            <a:r>
              <a:rPr dirty="0"/>
              <a:t> UML </a:t>
            </a:r>
            <a:r>
              <a:rPr dirty="0" err="1"/>
              <a:t>diyagramımızdır</a:t>
            </a:r>
            <a:r>
              <a:rPr dirty="0"/>
              <a:t>. </a:t>
            </a:r>
            <a:r>
              <a:rPr dirty="0" err="1"/>
              <a:t>Sağ</a:t>
            </a:r>
            <a:r>
              <a:rPr dirty="0"/>
              <a:t> </a:t>
            </a:r>
            <a:r>
              <a:rPr dirty="0" err="1"/>
              <a:t>tarafta</a:t>
            </a:r>
            <a:r>
              <a:rPr dirty="0"/>
              <a:t> </a:t>
            </a:r>
            <a:r>
              <a:rPr dirty="0" err="1"/>
              <a:t>ilişki</a:t>
            </a:r>
            <a:r>
              <a:rPr dirty="0"/>
              <a:t> </a:t>
            </a:r>
            <a:r>
              <a:rPr dirty="0" err="1"/>
              <a:t>türlerini</a:t>
            </a:r>
            <a:r>
              <a:rPr dirty="0"/>
              <a:t> </a:t>
            </a:r>
            <a:r>
              <a:rPr dirty="0" err="1"/>
              <a:t>özetledik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- Clinic → Patient: 1'e </a:t>
            </a:r>
            <a:r>
              <a:rPr dirty="0" err="1"/>
              <a:t>çok</a:t>
            </a:r>
            <a:r>
              <a:rPr dirty="0"/>
              <a:t> Association. Bir </a:t>
            </a:r>
            <a:r>
              <a:rPr dirty="0" err="1"/>
              <a:t>klinikte</a:t>
            </a:r>
            <a:r>
              <a:rPr dirty="0"/>
              <a:t> </a:t>
            </a:r>
            <a:r>
              <a:rPr dirty="0" err="1"/>
              <a:t>birden</a:t>
            </a:r>
            <a:r>
              <a:rPr dirty="0"/>
              <a:t> </a:t>
            </a:r>
            <a:r>
              <a:rPr dirty="0" err="1"/>
              <a:t>fazla</a:t>
            </a:r>
            <a:r>
              <a:rPr dirty="0"/>
              <a:t> hasta </a:t>
            </a:r>
            <a:r>
              <a:rPr dirty="0" err="1"/>
              <a:t>kayıtlıdır</a:t>
            </a:r>
            <a:r>
              <a:rPr dirty="0"/>
              <a:t>.</a:t>
            </a:r>
          </a:p>
          <a:p>
            <a:r>
              <a:rPr dirty="0"/>
              <a:t>- Clinic → </a:t>
            </a:r>
            <a:r>
              <a:rPr dirty="0" err="1"/>
              <a:t>CustomUser</a:t>
            </a:r>
            <a:r>
              <a:rPr dirty="0"/>
              <a:t>: 1'e </a:t>
            </a:r>
            <a:r>
              <a:rPr dirty="0" err="1"/>
              <a:t>çok</a:t>
            </a:r>
            <a:r>
              <a:rPr dirty="0"/>
              <a:t> Association. Bir </a:t>
            </a:r>
            <a:r>
              <a:rPr dirty="0" err="1"/>
              <a:t>klinikte</a:t>
            </a:r>
            <a:r>
              <a:rPr dirty="0"/>
              <a:t> </a:t>
            </a:r>
            <a:r>
              <a:rPr dirty="0" err="1"/>
              <a:t>birden</a:t>
            </a:r>
            <a:r>
              <a:rPr dirty="0"/>
              <a:t> </a:t>
            </a:r>
            <a:r>
              <a:rPr dirty="0" err="1"/>
              <a:t>fazla</a:t>
            </a:r>
            <a:r>
              <a:rPr dirty="0"/>
              <a:t> </a:t>
            </a:r>
            <a:r>
              <a:rPr dirty="0" err="1"/>
              <a:t>personel</a:t>
            </a:r>
            <a:r>
              <a:rPr dirty="0"/>
              <a:t> </a:t>
            </a:r>
            <a:r>
              <a:rPr dirty="0" err="1"/>
              <a:t>bulunur</a:t>
            </a:r>
            <a:r>
              <a:rPr dirty="0"/>
              <a:t>.</a:t>
            </a:r>
          </a:p>
          <a:p>
            <a:r>
              <a:rPr dirty="0"/>
              <a:t>- Patient → Anamnesis: 1'e 1 Composition. Her </a:t>
            </a:r>
            <a:r>
              <a:rPr dirty="0" err="1"/>
              <a:t>hastanın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fazla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anamnez</a:t>
            </a:r>
            <a:r>
              <a:rPr dirty="0"/>
              <a:t> </a:t>
            </a:r>
            <a:r>
              <a:rPr dirty="0" err="1"/>
              <a:t>kaydı</a:t>
            </a:r>
            <a:r>
              <a:rPr dirty="0"/>
              <a:t> </a:t>
            </a:r>
            <a:r>
              <a:rPr dirty="0" err="1"/>
              <a:t>vardır</a:t>
            </a:r>
            <a:r>
              <a:rPr dirty="0"/>
              <a:t>, hasta </a:t>
            </a:r>
            <a:r>
              <a:rPr dirty="0" err="1"/>
              <a:t>silinirse</a:t>
            </a:r>
            <a:r>
              <a:rPr dirty="0"/>
              <a:t> </a:t>
            </a:r>
            <a:r>
              <a:rPr dirty="0" err="1"/>
              <a:t>anamnez</a:t>
            </a:r>
            <a:r>
              <a:rPr dirty="0"/>
              <a:t> de </a:t>
            </a:r>
            <a:r>
              <a:rPr dirty="0" err="1"/>
              <a:t>silinir</a:t>
            </a:r>
            <a:r>
              <a:rPr dirty="0"/>
              <a:t>.</a:t>
            </a:r>
          </a:p>
          <a:p>
            <a:r>
              <a:rPr dirty="0"/>
              <a:t>- Patient → Appointment: 1'e </a:t>
            </a:r>
            <a:r>
              <a:rPr dirty="0" err="1"/>
              <a:t>çok</a:t>
            </a:r>
            <a:r>
              <a:rPr dirty="0"/>
              <a:t> Composition. Hasta </a:t>
            </a:r>
            <a:r>
              <a:rPr dirty="0" err="1"/>
              <a:t>silindiğinde</a:t>
            </a:r>
            <a:r>
              <a:rPr dirty="0"/>
              <a:t> </a:t>
            </a:r>
            <a:r>
              <a:rPr dirty="0" err="1"/>
              <a:t>randevuları</a:t>
            </a:r>
            <a:r>
              <a:rPr dirty="0"/>
              <a:t> da </a:t>
            </a:r>
            <a:r>
              <a:rPr dirty="0" err="1"/>
              <a:t>silinir</a:t>
            </a:r>
            <a:r>
              <a:rPr dirty="0"/>
              <a:t>.</a:t>
            </a:r>
          </a:p>
          <a:p>
            <a:r>
              <a:rPr dirty="0"/>
              <a:t>- Appointment → Treatment: 1'e </a:t>
            </a:r>
            <a:r>
              <a:rPr dirty="0" err="1"/>
              <a:t>çok</a:t>
            </a:r>
            <a:r>
              <a:rPr dirty="0"/>
              <a:t> Aggregation. Bir </a:t>
            </a:r>
            <a:r>
              <a:rPr dirty="0" err="1"/>
              <a:t>randevuda</a:t>
            </a:r>
            <a:r>
              <a:rPr dirty="0"/>
              <a:t> </a:t>
            </a:r>
            <a:r>
              <a:rPr dirty="0" err="1"/>
              <a:t>birden</a:t>
            </a:r>
            <a:r>
              <a:rPr dirty="0"/>
              <a:t> </a:t>
            </a:r>
            <a:r>
              <a:rPr dirty="0" err="1"/>
              <a:t>fazla</a:t>
            </a:r>
            <a:r>
              <a:rPr dirty="0"/>
              <a:t> </a:t>
            </a:r>
            <a:r>
              <a:rPr dirty="0" err="1"/>
              <a:t>tedavi</a:t>
            </a:r>
            <a:r>
              <a:rPr dirty="0"/>
              <a:t> </a:t>
            </a:r>
            <a:r>
              <a:rPr dirty="0" err="1"/>
              <a:t>yapılabilir</a:t>
            </a:r>
            <a:r>
              <a:rPr dirty="0"/>
              <a:t>.</a:t>
            </a:r>
          </a:p>
          <a:p>
            <a:r>
              <a:rPr dirty="0"/>
              <a:t>- Treatment → Payment: 1'e 1 Association. Her </a:t>
            </a:r>
            <a:r>
              <a:rPr dirty="0" err="1"/>
              <a:t>tedaviye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ödeme</a:t>
            </a:r>
            <a:r>
              <a:rPr dirty="0"/>
              <a:t> </a:t>
            </a:r>
            <a:r>
              <a:rPr dirty="0" err="1"/>
              <a:t>kaydı</a:t>
            </a:r>
            <a:r>
              <a:rPr dirty="0"/>
              <a:t> </a:t>
            </a:r>
            <a:r>
              <a:rPr dirty="0" err="1"/>
              <a:t>bağlanır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TreatmentType</a:t>
            </a:r>
            <a:r>
              <a:rPr dirty="0"/>
              <a:t> → Treatment: 1'e </a:t>
            </a:r>
            <a:r>
              <a:rPr dirty="0" err="1"/>
              <a:t>çok</a:t>
            </a:r>
            <a:r>
              <a:rPr dirty="0"/>
              <a:t>. Bir </a:t>
            </a:r>
            <a:r>
              <a:rPr dirty="0" err="1"/>
              <a:t>tedavi</a:t>
            </a:r>
            <a:r>
              <a:rPr dirty="0"/>
              <a:t> </a:t>
            </a:r>
            <a:r>
              <a:rPr dirty="0" err="1"/>
              <a:t>türü</a:t>
            </a:r>
            <a:r>
              <a:rPr dirty="0"/>
              <a:t> </a:t>
            </a:r>
            <a:r>
              <a:rPr dirty="0" err="1"/>
              <a:t>birden</a:t>
            </a:r>
            <a:r>
              <a:rPr dirty="0"/>
              <a:t> </a:t>
            </a:r>
            <a:r>
              <a:rPr dirty="0" err="1"/>
              <a:t>fazla</a:t>
            </a:r>
            <a:r>
              <a:rPr dirty="0"/>
              <a:t> </a:t>
            </a:r>
            <a:r>
              <a:rPr dirty="0" err="1"/>
              <a:t>tedavide</a:t>
            </a:r>
            <a:r>
              <a:rPr dirty="0"/>
              <a:t> </a:t>
            </a:r>
            <a:r>
              <a:rPr dirty="0" err="1"/>
              <a:t>kullanılabilir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Bu </a:t>
            </a:r>
            <a:r>
              <a:rPr dirty="0" err="1"/>
              <a:t>ilişkiler</a:t>
            </a:r>
            <a:r>
              <a:rPr dirty="0"/>
              <a:t> </a:t>
            </a:r>
            <a:r>
              <a:rPr dirty="0" err="1"/>
              <a:t>kodda</a:t>
            </a:r>
            <a:r>
              <a:rPr dirty="0"/>
              <a:t> </a:t>
            </a:r>
            <a:r>
              <a:rPr dirty="0" err="1"/>
              <a:t>ForeignKey</a:t>
            </a:r>
            <a:r>
              <a:rPr dirty="0"/>
              <a:t>, </a:t>
            </a:r>
            <a:r>
              <a:rPr dirty="0" err="1"/>
              <a:t>OneToOneField</a:t>
            </a:r>
            <a:r>
              <a:rPr dirty="0"/>
              <a:t> </a:t>
            </a:r>
            <a:r>
              <a:rPr dirty="0" err="1"/>
              <a:t>gibi</a:t>
            </a:r>
            <a:r>
              <a:rPr dirty="0"/>
              <a:t> Django ORM </a:t>
            </a:r>
            <a:r>
              <a:rPr dirty="0" err="1"/>
              <a:t>yapılarıyla</a:t>
            </a:r>
            <a:r>
              <a:rPr dirty="0"/>
              <a:t> </a:t>
            </a:r>
            <a:r>
              <a:rPr dirty="0" err="1"/>
              <a:t>birebir</a:t>
            </a:r>
            <a:r>
              <a:rPr dirty="0"/>
              <a:t> </a:t>
            </a:r>
            <a:r>
              <a:rPr dirty="0" err="1"/>
              <a:t>eşlenmiştir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Bu </a:t>
            </a:r>
            <a:r>
              <a:rPr dirty="0" err="1"/>
              <a:t>diyagram</a:t>
            </a:r>
            <a:r>
              <a:rPr dirty="0"/>
              <a:t>, </a:t>
            </a:r>
            <a:r>
              <a:rPr dirty="0" err="1"/>
              <a:t>uygulama</a:t>
            </a:r>
            <a:r>
              <a:rPr dirty="0"/>
              <a:t> </a:t>
            </a:r>
            <a:r>
              <a:rPr dirty="0" err="1"/>
              <a:t>katmanını</a:t>
            </a:r>
            <a:r>
              <a:rPr dirty="0"/>
              <a:t> </a:t>
            </a:r>
            <a:r>
              <a:rPr dirty="0" err="1"/>
              <a:t>gösterir</a:t>
            </a:r>
            <a:r>
              <a:rPr dirty="0"/>
              <a:t>. 3 </a:t>
            </a:r>
            <a:r>
              <a:rPr dirty="0" err="1"/>
              <a:t>stereotip</a:t>
            </a:r>
            <a:r>
              <a:rPr dirty="0"/>
              <a:t> </a:t>
            </a:r>
            <a:r>
              <a:rPr dirty="0" err="1"/>
              <a:t>kullanıyoruz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Boundary (</a:t>
            </a:r>
            <a:r>
              <a:rPr dirty="0" err="1"/>
              <a:t>Arayüz</a:t>
            </a:r>
            <a:r>
              <a:rPr dirty="0"/>
              <a:t> </a:t>
            </a:r>
            <a:r>
              <a:rPr dirty="0" err="1"/>
              <a:t>Bileşenleri</a:t>
            </a:r>
            <a:r>
              <a:rPr dirty="0"/>
              <a:t>): </a:t>
            </a:r>
            <a:r>
              <a:rPr dirty="0" err="1"/>
              <a:t>LoginPage</a:t>
            </a:r>
            <a:r>
              <a:rPr dirty="0"/>
              <a:t>, </a:t>
            </a:r>
            <a:r>
              <a:rPr dirty="0" err="1"/>
              <a:t>DashboardUI</a:t>
            </a:r>
            <a:r>
              <a:rPr dirty="0"/>
              <a:t>, </a:t>
            </a:r>
            <a:r>
              <a:rPr dirty="0" err="1"/>
              <a:t>PatientDialog</a:t>
            </a:r>
            <a:r>
              <a:rPr dirty="0"/>
              <a:t>, </a:t>
            </a:r>
            <a:r>
              <a:rPr dirty="0" err="1"/>
              <a:t>AppointmentDialog</a:t>
            </a:r>
            <a:r>
              <a:rPr dirty="0"/>
              <a:t> </a:t>
            </a:r>
            <a:r>
              <a:rPr dirty="0" err="1"/>
              <a:t>gibi</a:t>
            </a:r>
            <a:r>
              <a:rPr dirty="0"/>
              <a:t> React </a:t>
            </a:r>
            <a:r>
              <a:rPr dirty="0" err="1"/>
              <a:t>bileşenleri</a:t>
            </a:r>
            <a:r>
              <a:rPr dirty="0"/>
              <a:t>. </a:t>
            </a:r>
            <a:r>
              <a:rPr dirty="0" err="1"/>
              <a:t>Bunlar</a:t>
            </a:r>
            <a:r>
              <a:rPr dirty="0"/>
              <a:t> </a:t>
            </a:r>
            <a:r>
              <a:rPr dirty="0" err="1"/>
              <a:t>kullanıcının</a:t>
            </a:r>
            <a:r>
              <a:rPr dirty="0"/>
              <a:t> </a:t>
            </a:r>
            <a:r>
              <a:rPr dirty="0" err="1"/>
              <a:t>etkileştiği</a:t>
            </a:r>
            <a:r>
              <a:rPr dirty="0"/>
              <a:t> </a:t>
            </a:r>
            <a:r>
              <a:rPr dirty="0" err="1"/>
              <a:t>arayüzlerdir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Control (</a:t>
            </a:r>
            <a:r>
              <a:rPr dirty="0" err="1"/>
              <a:t>İş</a:t>
            </a:r>
            <a:r>
              <a:rPr dirty="0"/>
              <a:t> </a:t>
            </a:r>
            <a:r>
              <a:rPr dirty="0" err="1"/>
              <a:t>Mantığı</a:t>
            </a:r>
            <a:r>
              <a:rPr dirty="0"/>
              <a:t>): İki </a:t>
            </a:r>
            <a:r>
              <a:rPr dirty="0" err="1"/>
              <a:t>katmanda</a:t>
            </a:r>
            <a:r>
              <a:rPr dirty="0"/>
              <a:t> </a:t>
            </a:r>
            <a:r>
              <a:rPr dirty="0" err="1"/>
              <a:t>çalışır</a:t>
            </a:r>
            <a:r>
              <a:rPr dirty="0"/>
              <a:t>:</a:t>
            </a:r>
          </a:p>
          <a:p>
            <a:r>
              <a:rPr dirty="0"/>
              <a:t>- Frontend </a:t>
            </a:r>
            <a:r>
              <a:rPr dirty="0" err="1"/>
              <a:t>tarafında</a:t>
            </a:r>
            <a:r>
              <a:rPr dirty="0"/>
              <a:t> </a:t>
            </a:r>
            <a:r>
              <a:rPr dirty="0" err="1"/>
              <a:t>ApiService</a:t>
            </a:r>
            <a:r>
              <a:rPr dirty="0"/>
              <a:t>: </a:t>
            </a:r>
            <a:r>
              <a:rPr dirty="0" err="1"/>
              <a:t>Tüm</a:t>
            </a:r>
            <a:r>
              <a:rPr dirty="0"/>
              <a:t> HTTP </a:t>
            </a:r>
            <a:r>
              <a:rPr dirty="0" err="1"/>
              <a:t>çağrılarını</a:t>
            </a:r>
            <a:r>
              <a:rPr dirty="0"/>
              <a:t> </a:t>
            </a:r>
            <a:r>
              <a:rPr dirty="0" err="1"/>
              <a:t>merkezi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yönetir</a:t>
            </a:r>
            <a:r>
              <a:rPr dirty="0"/>
              <a:t>, JWT </a:t>
            </a:r>
            <a:r>
              <a:rPr dirty="0" err="1"/>
              <a:t>token'ı</a:t>
            </a:r>
            <a:r>
              <a:rPr dirty="0"/>
              <a:t> </a:t>
            </a:r>
            <a:r>
              <a:rPr dirty="0" err="1"/>
              <a:t>otomatik</a:t>
            </a:r>
            <a:r>
              <a:rPr dirty="0"/>
              <a:t> </a:t>
            </a:r>
            <a:r>
              <a:rPr dirty="0" err="1"/>
              <a:t>ekler</a:t>
            </a:r>
            <a:r>
              <a:rPr dirty="0"/>
              <a:t>.</a:t>
            </a:r>
          </a:p>
          <a:p>
            <a:r>
              <a:rPr dirty="0"/>
              <a:t>- Backend </a:t>
            </a:r>
            <a:r>
              <a:rPr dirty="0" err="1"/>
              <a:t>tarafında</a:t>
            </a:r>
            <a:r>
              <a:rPr dirty="0"/>
              <a:t> </a:t>
            </a:r>
            <a:r>
              <a:rPr dirty="0" err="1"/>
              <a:t>ViewSet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Serializer: Gelen </a:t>
            </a:r>
            <a:r>
              <a:rPr dirty="0" err="1"/>
              <a:t>istekleri</a:t>
            </a:r>
            <a:r>
              <a:rPr dirty="0"/>
              <a:t> </a:t>
            </a:r>
            <a:r>
              <a:rPr dirty="0" err="1"/>
              <a:t>karşılar</a:t>
            </a:r>
            <a:r>
              <a:rPr dirty="0"/>
              <a:t>, </a:t>
            </a:r>
            <a:r>
              <a:rPr dirty="0" err="1"/>
              <a:t>doğrulama</a:t>
            </a:r>
            <a:r>
              <a:rPr dirty="0"/>
              <a:t> </a:t>
            </a:r>
            <a:r>
              <a:rPr dirty="0" err="1"/>
              <a:t>yapar</a:t>
            </a:r>
            <a:r>
              <a:rPr dirty="0"/>
              <a:t>, </a:t>
            </a:r>
            <a:r>
              <a:rPr dirty="0" err="1"/>
              <a:t>iş</a:t>
            </a:r>
            <a:r>
              <a:rPr dirty="0"/>
              <a:t> </a:t>
            </a:r>
            <a:r>
              <a:rPr dirty="0" err="1"/>
              <a:t>kurallarını</a:t>
            </a:r>
            <a:r>
              <a:rPr dirty="0"/>
              <a:t> </a:t>
            </a:r>
            <a:r>
              <a:rPr dirty="0" err="1"/>
              <a:t>uygular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Önemli</a:t>
            </a:r>
            <a:r>
              <a:rPr dirty="0"/>
              <a:t> </a:t>
            </a:r>
            <a:r>
              <a:rPr dirty="0" err="1"/>
              <a:t>tasarım</a:t>
            </a:r>
            <a:r>
              <a:rPr dirty="0"/>
              <a:t> </a:t>
            </a:r>
            <a:r>
              <a:rPr dirty="0" err="1"/>
              <a:t>kuralımız</a:t>
            </a:r>
            <a:r>
              <a:rPr dirty="0"/>
              <a:t>: Boundary </a:t>
            </a:r>
            <a:r>
              <a:rPr dirty="0" err="1"/>
              <a:t>asla</a:t>
            </a:r>
            <a:r>
              <a:rPr dirty="0"/>
              <a:t> </a:t>
            </a:r>
            <a:r>
              <a:rPr dirty="0" err="1"/>
              <a:t>doğrudan</a:t>
            </a:r>
            <a:r>
              <a:rPr dirty="0"/>
              <a:t> Entity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konuşmaz</a:t>
            </a:r>
            <a:r>
              <a:rPr dirty="0"/>
              <a:t>. Her zaman </a:t>
            </a:r>
            <a:r>
              <a:rPr dirty="0" err="1"/>
              <a:t>araya</a:t>
            </a:r>
            <a:r>
              <a:rPr dirty="0"/>
              <a:t> Control </a:t>
            </a:r>
            <a:r>
              <a:rPr dirty="0" err="1"/>
              <a:t>katmanı</a:t>
            </a:r>
            <a:r>
              <a:rPr dirty="0"/>
              <a:t> </a:t>
            </a:r>
            <a:r>
              <a:rPr dirty="0" err="1"/>
              <a:t>girer</a:t>
            </a:r>
            <a:r>
              <a:rPr dirty="0"/>
              <a:t>. Bu </a:t>
            </a:r>
            <a:r>
              <a:rPr dirty="0" err="1"/>
              <a:t>sayede</a:t>
            </a:r>
            <a:r>
              <a:rPr dirty="0"/>
              <a:t>:</a:t>
            </a:r>
          </a:p>
          <a:p>
            <a:r>
              <a:rPr dirty="0"/>
              <a:t>1. </a:t>
            </a:r>
            <a:r>
              <a:rPr dirty="0" err="1"/>
              <a:t>Güvenlik</a:t>
            </a:r>
            <a:r>
              <a:rPr dirty="0"/>
              <a:t> </a:t>
            </a:r>
            <a:r>
              <a:rPr dirty="0" err="1"/>
              <a:t>kontrolleri</a:t>
            </a:r>
            <a:r>
              <a:rPr dirty="0"/>
              <a:t> </a:t>
            </a:r>
            <a:r>
              <a:rPr dirty="0" err="1"/>
              <a:t>merkezi</a:t>
            </a:r>
            <a:r>
              <a:rPr dirty="0"/>
              <a:t> </a:t>
            </a:r>
            <a:r>
              <a:rPr dirty="0" err="1"/>
              <a:t>yapılır</a:t>
            </a:r>
            <a:endParaRPr dirty="0"/>
          </a:p>
          <a:p>
            <a:r>
              <a:rPr dirty="0"/>
              <a:t>2. </a:t>
            </a:r>
            <a:r>
              <a:rPr dirty="0" err="1"/>
              <a:t>İş</a:t>
            </a:r>
            <a:r>
              <a:rPr dirty="0"/>
              <a:t> </a:t>
            </a:r>
            <a:r>
              <a:rPr dirty="0" err="1"/>
              <a:t>kuralları</a:t>
            </a:r>
            <a:r>
              <a:rPr dirty="0"/>
              <a:t>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noktada</a:t>
            </a:r>
            <a:r>
              <a:rPr dirty="0"/>
              <a:t> </a:t>
            </a:r>
            <a:r>
              <a:rPr dirty="0" err="1"/>
              <a:t>uygulanır</a:t>
            </a:r>
            <a:endParaRPr dirty="0"/>
          </a:p>
          <a:p>
            <a:r>
              <a:rPr dirty="0"/>
              <a:t>3. </a:t>
            </a:r>
            <a:r>
              <a:rPr dirty="0" err="1"/>
              <a:t>Arayüz</a:t>
            </a:r>
            <a:r>
              <a:rPr dirty="0"/>
              <a:t> </a:t>
            </a:r>
            <a:r>
              <a:rPr dirty="0" err="1"/>
              <a:t>değişiklikleri</a:t>
            </a:r>
            <a:r>
              <a:rPr dirty="0"/>
              <a:t> </a:t>
            </a:r>
            <a:r>
              <a:rPr dirty="0" err="1"/>
              <a:t>backend'i</a:t>
            </a:r>
            <a:r>
              <a:rPr dirty="0"/>
              <a:t> </a:t>
            </a:r>
            <a:r>
              <a:rPr dirty="0" err="1"/>
              <a:t>etkilemez</a:t>
            </a:r>
            <a:endParaRPr dirty="0"/>
          </a:p>
          <a:p>
            <a:endParaRPr dirty="0"/>
          </a:p>
          <a:p>
            <a:r>
              <a:rPr dirty="0"/>
              <a:t>Bu MVC/MVT </a:t>
            </a:r>
            <a:r>
              <a:rPr dirty="0" err="1"/>
              <a:t>mimarisi</a:t>
            </a:r>
            <a:r>
              <a:rPr dirty="0"/>
              <a:t> </a:t>
            </a:r>
            <a:r>
              <a:rPr dirty="0" err="1"/>
              <a:t>prensiplerine</a:t>
            </a:r>
            <a:r>
              <a:rPr dirty="0"/>
              <a:t> </a:t>
            </a:r>
            <a:r>
              <a:rPr dirty="0" err="1"/>
              <a:t>uygun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tasarımdır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Bu </a:t>
            </a:r>
            <a:r>
              <a:rPr dirty="0" err="1"/>
              <a:t>sekans</a:t>
            </a:r>
            <a:r>
              <a:rPr dirty="0"/>
              <a:t> </a:t>
            </a:r>
            <a:r>
              <a:rPr dirty="0" err="1"/>
              <a:t>diyagramı</a:t>
            </a:r>
            <a:r>
              <a:rPr dirty="0"/>
              <a:t>, Hasta </a:t>
            </a:r>
            <a:r>
              <a:rPr dirty="0" err="1"/>
              <a:t>Kaydı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Anamnez</a:t>
            </a:r>
            <a:r>
              <a:rPr dirty="0"/>
              <a:t> </a:t>
            </a:r>
            <a:r>
              <a:rPr dirty="0" err="1"/>
              <a:t>Güncelleme</a:t>
            </a:r>
            <a:r>
              <a:rPr dirty="0"/>
              <a:t> </a:t>
            </a:r>
            <a:r>
              <a:rPr dirty="0" err="1"/>
              <a:t>akışını</a:t>
            </a:r>
            <a:r>
              <a:rPr dirty="0"/>
              <a:t> </a:t>
            </a:r>
            <a:r>
              <a:rPr dirty="0" err="1"/>
              <a:t>gösterir</a:t>
            </a:r>
            <a:r>
              <a:rPr dirty="0"/>
              <a:t> (FR-02).</a:t>
            </a:r>
          </a:p>
          <a:p>
            <a:endParaRPr dirty="0"/>
          </a:p>
          <a:p>
            <a:r>
              <a:rPr dirty="0" err="1"/>
              <a:t>Akış</a:t>
            </a:r>
            <a:r>
              <a:rPr dirty="0"/>
              <a:t> </a:t>
            </a:r>
            <a:r>
              <a:rPr dirty="0" err="1"/>
              <a:t>şöyle</a:t>
            </a:r>
            <a:r>
              <a:rPr dirty="0"/>
              <a:t> </a:t>
            </a:r>
            <a:r>
              <a:rPr dirty="0" err="1"/>
              <a:t>ilerler</a:t>
            </a:r>
            <a:r>
              <a:rPr dirty="0"/>
              <a:t>:</a:t>
            </a:r>
          </a:p>
          <a:p>
            <a:r>
              <a:rPr dirty="0"/>
              <a:t>1. </a:t>
            </a:r>
            <a:r>
              <a:rPr dirty="0" err="1"/>
              <a:t>Asistan</a:t>
            </a:r>
            <a:r>
              <a:rPr dirty="0"/>
              <a:t> </a:t>
            </a:r>
            <a:r>
              <a:rPr dirty="0" err="1"/>
              <a:t>veya</a:t>
            </a:r>
            <a:r>
              <a:rPr dirty="0"/>
              <a:t> </a:t>
            </a:r>
            <a:r>
              <a:rPr dirty="0" err="1"/>
              <a:t>Hekim</a:t>
            </a:r>
            <a:r>
              <a:rPr dirty="0"/>
              <a:t>, </a:t>
            </a:r>
            <a:r>
              <a:rPr dirty="0" err="1"/>
              <a:t>PatientDialog</a:t>
            </a:r>
            <a:r>
              <a:rPr dirty="0"/>
              <a:t> </a:t>
            </a:r>
            <a:r>
              <a:rPr dirty="0" err="1"/>
              <a:t>arayüzünden</a:t>
            </a:r>
            <a:r>
              <a:rPr dirty="0"/>
              <a:t> hasta </a:t>
            </a:r>
            <a:r>
              <a:rPr dirty="0" err="1"/>
              <a:t>bilgilerini</a:t>
            </a:r>
            <a:r>
              <a:rPr dirty="0"/>
              <a:t> </a:t>
            </a:r>
            <a:r>
              <a:rPr dirty="0" err="1"/>
              <a:t>girer</a:t>
            </a:r>
            <a:r>
              <a:rPr dirty="0"/>
              <a:t>.</a:t>
            </a:r>
          </a:p>
          <a:p>
            <a:r>
              <a:rPr dirty="0"/>
              <a:t>2. </a:t>
            </a:r>
            <a:r>
              <a:rPr dirty="0" err="1"/>
              <a:t>PatientDialog</a:t>
            </a:r>
            <a:r>
              <a:rPr dirty="0"/>
              <a:t>, </a:t>
            </a:r>
            <a:r>
              <a:rPr dirty="0" err="1"/>
              <a:t>ApiService</a:t>
            </a:r>
            <a:r>
              <a:rPr dirty="0"/>
              <a:t> </a:t>
            </a:r>
            <a:r>
              <a:rPr dirty="0" err="1"/>
              <a:t>üzerinden</a:t>
            </a:r>
            <a:r>
              <a:rPr dirty="0"/>
              <a:t> POST /</a:t>
            </a:r>
            <a:r>
              <a:rPr dirty="0" err="1"/>
              <a:t>api</a:t>
            </a:r>
            <a:r>
              <a:rPr dirty="0"/>
              <a:t>/patients/ </a:t>
            </a:r>
            <a:r>
              <a:rPr dirty="0" err="1"/>
              <a:t>endpointine</a:t>
            </a:r>
            <a:r>
              <a:rPr dirty="0"/>
              <a:t> </a:t>
            </a:r>
            <a:r>
              <a:rPr dirty="0" err="1"/>
              <a:t>istek</a:t>
            </a:r>
            <a:r>
              <a:rPr dirty="0"/>
              <a:t> </a:t>
            </a:r>
            <a:r>
              <a:rPr dirty="0" err="1"/>
              <a:t>atar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Backend'de</a:t>
            </a:r>
            <a:r>
              <a:rPr dirty="0"/>
              <a:t> </a:t>
            </a:r>
            <a:r>
              <a:rPr dirty="0" err="1"/>
              <a:t>PatientViewSet</a:t>
            </a:r>
            <a:r>
              <a:rPr dirty="0"/>
              <a:t> </a:t>
            </a:r>
            <a:r>
              <a:rPr dirty="0" err="1"/>
              <a:t>bu</a:t>
            </a:r>
            <a:r>
              <a:rPr dirty="0"/>
              <a:t> </a:t>
            </a:r>
            <a:r>
              <a:rPr dirty="0" err="1"/>
              <a:t>isteği</a:t>
            </a:r>
            <a:r>
              <a:rPr dirty="0"/>
              <a:t> </a:t>
            </a:r>
            <a:r>
              <a:rPr dirty="0" err="1"/>
              <a:t>karşılar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PatientSerializer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doğrulama</a:t>
            </a:r>
            <a:r>
              <a:rPr dirty="0"/>
              <a:t> </a:t>
            </a:r>
            <a:r>
              <a:rPr dirty="0" err="1"/>
              <a:t>yapar</a:t>
            </a:r>
            <a:r>
              <a:rPr dirty="0"/>
              <a:t>.</a:t>
            </a:r>
          </a:p>
          <a:p>
            <a:r>
              <a:rPr dirty="0"/>
              <a:t>4. Ad, </a:t>
            </a:r>
            <a:r>
              <a:rPr dirty="0" err="1"/>
              <a:t>soyad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telefon</a:t>
            </a:r>
            <a:r>
              <a:rPr dirty="0"/>
              <a:t> </a:t>
            </a:r>
            <a:r>
              <a:rPr dirty="0" err="1"/>
              <a:t>zorunlu</a:t>
            </a:r>
            <a:r>
              <a:rPr dirty="0"/>
              <a:t> </a:t>
            </a:r>
            <a:r>
              <a:rPr dirty="0" err="1"/>
              <a:t>alan</a:t>
            </a:r>
            <a:r>
              <a:rPr dirty="0"/>
              <a:t> </a:t>
            </a:r>
            <a:r>
              <a:rPr dirty="0" err="1"/>
              <a:t>kontrolü</a:t>
            </a:r>
            <a:r>
              <a:rPr dirty="0"/>
              <a:t> </a:t>
            </a:r>
            <a:r>
              <a:rPr dirty="0" err="1"/>
              <a:t>yapılır</a:t>
            </a:r>
            <a:r>
              <a:rPr dirty="0"/>
              <a:t>.</a:t>
            </a:r>
          </a:p>
          <a:p>
            <a:r>
              <a:rPr dirty="0"/>
              <a:t>5. Hasta </a:t>
            </a:r>
            <a:r>
              <a:rPr dirty="0" err="1"/>
              <a:t>kaydı</a:t>
            </a:r>
            <a:r>
              <a:rPr dirty="0"/>
              <a:t> </a:t>
            </a:r>
            <a:r>
              <a:rPr dirty="0" err="1"/>
              <a:t>oluşturulur</a:t>
            </a:r>
            <a:r>
              <a:rPr dirty="0"/>
              <a:t>.</a:t>
            </a:r>
          </a:p>
          <a:p>
            <a:r>
              <a:rPr dirty="0"/>
              <a:t>6. </a:t>
            </a:r>
            <a:r>
              <a:rPr dirty="0" err="1"/>
              <a:t>Eğer</a:t>
            </a:r>
            <a:r>
              <a:rPr dirty="0"/>
              <a:t> </a:t>
            </a:r>
            <a:r>
              <a:rPr dirty="0" err="1"/>
              <a:t>anamnez</a:t>
            </a:r>
            <a:r>
              <a:rPr dirty="0"/>
              <a:t> </a:t>
            </a:r>
            <a:r>
              <a:rPr dirty="0" err="1"/>
              <a:t>verisi</a:t>
            </a:r>
            <a:r>
              <a:rPr dirty="0"/>
              <a:t> de </a:t>
            </a:r>
            <a:r>
              <a:rPr dirty="0" err="1"/>
              <a:t>gönderilmişse</a:t>
            </a:r>
            <a:r>
              <a:rPr dirty="0"/>
              <a:t>, Anamnesis </a:t>
            </a:r>
            <a:r>
              <a:rPr dirty="0" err="1"/>
              <a:t>modeli</a:t>
            </a:r>
            <a:r>
              <a:rPr dirty="0"/>
              <a:t> </a:t>
            </a:r>
            <a:r>
              <a:rPr dirty="0" err="1"/>
              <a:t>zincirleme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oluşturulur</a:t>
            </a:r>
            <a:r>
              <a:rPr dirty="0"/>
              <a:t>.</a:t>
            </a:r>
          </a:p>
          <a:p>
            <a:r>
              <a:rPr dirty="0"/>
              <a:t>7. </a:t>
            </a:r>
            <a:r>
              <a:rPr dirty="0" err="1"/>
              <a:t>Başarılı</a:t>
            </a:r>
            <a:r>
              <a:rPr dirty="0"/>
              <a:t> </a:t>
            </a:r>
            <a:r>
              <a:rPr dirty="0" err="1"/>
              <a:t>yanıt</a:t>
            </a:r>
            <a:r>
              <a:rPr dirty="0"/>
              <a:t> 201 Created </a:t>
            </a:r>
            <a:r>
              <a:rPr dirty="0" err="1"/>
              <a:t>ile</a:t>
            </a:r>
            <a:r>
              <a:rPr dirty="0"/>
              <a:t> döner.</a:t>
            </a:r>
          </a:p>
          <a:p>
            <a:endParaRPr dirty="0"/>
          </a:p>
          <a:p>
            <a:r>
              <a:rPr dirty="0"/>
              <a:t>Bu </a:t>
            </a:r>
            <a:r>
              <a:rPr dirty="0" err="1"/>
              <a:t>diyagramda</a:t>
            </a:r>
            <a:r>
              <a:rPr dirty="0"/>
              <a:t> </a:t>
            </a:r>
            <a:r>
              <a:rPr dirty="0" err="1"/>
              <a:t>dikkat</a:t>
            </a:r>
            <a:r>
              <a:rPr dirty="0"/>
              <a:t> </a:t>
            </a:r>
            <a:r>
              <a:rPr dirty="0" err="1"/>
              <a:t>edilmesi</a:t>
            </a:r>
            <a:r>
              <a:rPr dirty="0"/>
              <a:t> </a:t>
            </a:r>
            <a:r>
              <a:rPr dirty="0" err="1"/>
              <a:t>gereken</a:t>
            </a:r>
            <a:r>
              <a:rPr dirty="0"/>
              <a:t>: </a:t>
            </a:r>
            <a:r>
              <a:rPr dirty="0" err="1"/>
              <a:t>İç</a:t>
            </a:r>
            <a:r>
              <a:rPr dirty="0"/>
              <a:t> </a:t>
            </a:r>
            <a:r>
              <a:rPr dirty="0" err="1"/>
              <a:t>içe</a:t>
            </a:r>
            <a:r>
              <a:rPr dirty="0"/>
              <a:t> (nested)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yapısı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hasta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anamnez</a:t>
            </a:r>
            <a:r>
              <a:rPr dirty="0"/>
              <a:t>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istekte</a:t>
            </a:r>
            <a:r>
              <a:rPr dirty="0"/>
              <a:t> </a:t>
            </a:r>
            <a:r>
              <a:rPr dirty="0" err="1"/>
              <a:t>oluşturulabiliyor</a:t>
            </a:r>
            <a:r>
              <a:rPr dirty="0"/>
              <a:t>. PatientSerializer'ın create() </a:t>
            </a:r>
            <a:r>
              <a:rPr dirty="0" err="1"/>
              <a:t>metodunda</a:t>
            </a:r>
            <a:r>
              <a:rPr dirty="0"/>
              <a:t> </a:t>
            </a:r>
            <a:r>
              <a:rPr dirty="0" err="1"/>
              <a:t>bu</a:t>
            </a:r>
            <a:r>
              <a:rPr dirty="0"/>
              <a:t> nested write </a:t>
            </a:r>
            <a:r>
              <a:rPr dirty="0" err="1"/>
              <a:t>işlemi</a:t>
            </a:r>
            <a:r>
              <a:rPr dirty="0"/>
              <a:t> </a:t>
            </a:r>
            <a:r>
              <a:rPr dirty="0" err="1"/>
              <a:t>gerçekleştirilir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 sekans diyagramı, projemizin en kritik akışını gösterir: Randevu Oluşturma ve Çakışma Kontrolü (FR-03).</a:t>
            </a:r>
          </a:p>
          <a:p>
            <a:endParaRPr/>
          </a:p>
          <a:p>
            <a:r>
              <a:t>Akış:</a:t>
            </a:r>
          </a:p>
          <a:p>
            <a:r>
              <a:t>1. Asistan, AppointmentDialog'dan randevu bilgilerini girer: hasta, hekim, tarih ve saat.</a:t>
            </a:r>
          </a:p>
          <a:p>
            <a:r>
              <a:t>2. ApiService, POST /api/appointments/ endpointine istek atar.</a:t>
            </a:r>
          </a:p>
          <a:p>
            <a:r>
              <a:t>3. AppointmentViewSet isteği alır ve AppointmentCreateSerializer'a yönlendirir.</a:t>
            </a:r>
          </a:p>
          <a:p>
            <a:r>
              <a:t>4. Serializer'ın validate() metodu devreye girer. Burada çakışma kontrolü yapılır:</a:t>
            </a:r>
          </a:p>
          <a:p>
            <a:r>
              <a:t>- Aynı hekime, aynı tarih ve saatte, durumu "Scheduled" olan başka bir randevu var mı?</a:t>
            </a:r>
          </a:p>
          <a:p>
            <a:r>
              <a:t>- Appointment.objects.filter(doctor=doctor, date=date, time=time, status='scheduled')</a:t>
            </a:r>
          </a:p>
          <a:p>
            <a:r>
              <a:t>5. Eğer çakışma varsa: ValidationError fırlatılır, 400 Bad Request döner.</a:t>
            </a:r>
          </a:p>
          <a:p>
            <a:r>
              <a:t>6. Eğer çakışma yoksa: Randevu "scheduled" statüsünde kaydedilir, 201 Created döner.</a:t>
            </a:r>
          </a:p>
          <a:p>
            <a:endParaRPr/>
          </a:p>
          <a:p>
            <a:r>
              <a:t>Diyagramda "alt" fragment ile bu iki alternatif akış gösterilmiştir. İptal edilmiş bir randevunun slotu bloke etmemesi de önemli bir detaydır - bunu testlerde de doğruladık.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Dashboard Günlük Özet akışı (FR-04).</a:t>
            </a:r>
          </a:p>
          <a:p>
            <a:endParaRPr/>
          </a:p>
          <a:p>
            <a:r>
              <a:t>Klinik personeli güne başlarken ana paneli açtığında:</a:t>
            </a:r>
          </a:p>
          <a:p>
            <a:r>
              <a:t>1. DashboardUI bileşeni, ApiService üzerinden GET /api/dashboard/today/ endpointini çağırır.</a:t>
            </a:r>
          </a:p>
          <a:p>
            <a:r>
              <a:t>2. Backend'de DashboardView, birden fazla sorguyu tek seferde çalıştırır:</a:t>
            </a:r>
          </a:p>
          <a:p>
            <a:r>
              <a:t>- Bugüne ait randevuları filtreler</a:t>
            </a:r>
          </a:p>
          <a:p>
            <a:r>
              <a:t>- Tamamlanan işlem sayısını hesaplar</a:t>
            </a:r>
          </a:p>
          <a:p>
            <a:r>
              <a:t>- Aktif hasta sayısını count eder</a:t>
            </a:r>
          </a:p>
          <a:p>
            <a:r>
              <a:t>3. Bu aggregate veri tek bir JSON yanıtında döner.</a:t>
            </a:r>
          </a:p>
          <a:p>
            <a:endParaRPr/>
          </a:p>
          <a:p>
            <a:r>
              <a:t>Bu tasarım kararının nedeni performanstır. Frontend 3 ayrı API çağrısı yapmak yerine, backend tarafında hesaplanan özet veriyi tek seferde alır. Bu "Backend for Frontend" pattern'ine uygun bir yaklaşımdır.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Klinik Ayarları Güncelleme akışı (FR-06).</a:t>
            </a:r>
          </a:p>
          <a:p>
            <a:endParaRPr/>
          </a:p>
          <a:p>
            <a:r>
              <a:t>Bu akış, yetki kontrolünün (Authorization) nasıl çalıştığını gösterir:</a:t>
            </a:r>
          </a:p>
          <a:p>
            <a:endParaRPr/>
          </a:p>
          <a:p>
            <a:r>
              <a:t>1. Kullanıcı, ClinicSettingsUI ekranına erişir.</a:t>
            </a:r>
          </a:p>
          <a:p>
            <a:r>
              <a:t>2. ApiService, PUT/PATCH /api/clinic-settings/ endpointine istek atar.</a:t>
            </a:r>
          </a:p>
          <a:p>
            <a:r>
              <a:t>3. Backend'de ClinicSettingsViewSet isteği alır.</a:t>
            </a:r>
          </a:p>
          <a:p>
            <a:r>
              <a:t>4. İlk olarak IsAdminUser permission sınıfı devreye girer.</a:t>
            </a:r>
          </a:p>
          <a:p>
            <a:r>
              <a:t>5. Eğer kullanıcı Admin değilse: 403 Forbidden döner. İşlem yapılamaz.</a:t>
            </a:r>
          </a:p>
          <a:p>
            <a:r>
              <a:t>6. Eğer kullanıcı Admin ise: Çalışma saatleri güncellenir, 200 OK döner.</a:t>
            </a:r>
          </a:p>
          <a:p>
            <a:endParaRPr/>
          </a:p>
          <a:p>
            <a:r>
              <a:t>Diyagramda "alt" fragment ile bu yetki kontrolü modellenmiştir. Bu, RBAC (Role-Based Access Control) yaklaşımının pratik uygulamasıdır. NFR-02 güvenlik isterimizi doğrudan karşılar.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Proje</a:t>
            </a:r>
            <a:r>
              <a:rPr dirty="0"/>
              <a:t> </a:t>
            </a:r>
            <a:r>
              <a:rPr dirty="0" err="1"/>
              <a:t>Adımı</a:t>
            </a:r>
            <a:r>
              <a:rPr dirty="0"/>
              <a:t> 2'de </a:t>
            </a:r>
            <a:r>
              <a:rPr dirty="0" err="1"/>
              <a:t>hazırladığımız</a:t>
            </a:r>
            <a:r>
              <a:rPr dirty="0"/>
              <a:t> </a:t>
            </a:r>
            <a:r>
              <a:rPr dirty="0" err="1"/>
              <a:t>Teknoloji</a:t>
            </a:r>
            <a:r>
              <a:rPr dirty="0"/>
              <a:t> Karar </a:t>
            </a:r>
            <a:r>
              <a:rPr dirty="0" err="1"/>
              <a:t>Analizi</a:t>
            </a:r>
            <a:r>
              <a:rPr dirty="0"/>
              <a:t> </a:t>
            </a:r>
            <a:r>
              <a:rPr dirty="0" err="1"/>
              <a:t>yani</a:t>
            </a:r>
            <a:r>
              <a:rPr dirty="0"/>
              <a:t> DAR </a:t>
            </a:r>
            <a:r>
              <a:rPr dirty="0" err="1"/>
              <a:t>raporu</a:t>
            </a:r>
            <a:r>
              <a:rPr dirty="0"/>
              <a:t> </a:t>
            </a:r>
            <a:r>
              <a:rPr dirty="0" err="1"/>
              <a:t>kapsamında</a:t>
            </a:r>
            <a:r>
              <a:rPr dirty="0"/>
              <a:t>, her </a:t>
            </a:r>
            <a:r>
              <a:rPr dirty="0" err="1"/>
              <a:t>teknoloji</a:t>
            </a:r>
            <a:r>
              <a:rPr dirty="0"/>
              <a:t> </a:t>
            </a:r>
            <a:r>
              <a:rPr dirty="0" err="1"/>
              <a:t>alternatifini</a:t>
            </a:r>
            <a:r>
              <a:rPr dirty="0"/>
              <a:t> 1'den 5'e </a:t>
            </a:r>
            <a:r>
              <a:rPr dirty="0" err="1"/>
              <a:t>kadar</a:t>
            </a:r>
            <a:r>
              <a:rPr dirty="0"/>
              <a:t> </a:t>
            </a:r>
            <a:r>
              <a:rPr dirty="0" err="1"/>
              <a:t>puanladık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Backend Framework Karar </a:t>
            </a:r>
            <a:r>
              <a:rPr dirty="0" err="1"/>
              <a:t>Matrisi'ne</a:t>
            </a:r>
            <a:r>
              <a:rPr dirty="0"/>
              <a:t> </a:t>
            </a:r>
            <a:r>
              <a:rPr dirty="0" err="1"/>
              <a:t>bakalım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Django REST Framework (Python): </a:t>
            </a:r>
            <a:r>
              <a:rPr dirty="0" err="1"/>
              <a:t>Toplam</a:t>
            </a:r>
            <a:r>
              <a:rPr dirty="0"/>
              <a:t> 19 </a:t>
            </a:r>
            <a:r>
              <a:rPr dirty="0" err="1"/>
              <a:t>puan</a:t>
            </a:r>
            <a:endParaRPr dirty="0"/>
          </a:p>
          <a:p>
            <a:r>
              <a:rPr dirty="0"/>
              <a:t>- </a:t>
            </a:r>
            <a:r>
              <a:rPr dirty="0" err="1"/>
              <a:t>Geliştirme</a:t>
            </a:r>
            <a:r>
              <a:rPr dirty="0"/>
              <a:t> </a:t>
            </a:r>
            <a:r>
              <a:rPr dirty="0" err="1"/>
              <a:t>hızı</a:t>
            </a:r>
            <a:r>
              <a:rPr dirty="0"/>
              <a:t> 5/5: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boilerplate </a:t>
            </a:r>
            <a:r>
              <a:rPr dirty="0" err="1"/>
              <a:t>kod</a:t>
            </a:r>
            <a:r>
              <a:rPr dirty="0"/>
              <a:t> </a:t>
            </a:r>
            <a:r>
              <a:rPr dirty="0" err="1"/>
              <a:t>yazılır</a:t>
            </a:r>
            <a:r>
              <a:rPr dirty="0"/>
              <a:t>, </a:t>
            </a:r>
            <a:r>
              <a:rPr dirty="0" err="1"/>
              <a:t>dahili</a:t>
            </a:r>
            <a:r>
              <a:rPr dirty="0"/>
              <a:t> admin </a:t>
            </a:r>
            <a:r>
              <a:rPr dirty="0" err="1"/>
              <a:t>paneli</a:t>
            </a:r>
            <a:r>
              <a:rPr dirty="0"/>
              <a:t>, ORM </a:t>
            </a:r>
            <a:r>
              <a:rPr dirty="0" err="1"/>
              <a:t>otomatik</a:t>
            </a:r>
            <a:r>
              <a:rPr dirty="0"/>
              <a:t> migration...</a:t>
            </a:r>
          </a:p>
          <a:p>
            <a:r>
              <a:rPr dirty="0"/>
              <a:t>- </a:t>
            </a:r>
            <a:r>
              <a:rPr dirty="0" err="1"/>
              <a:t>Güvenlik</a:t>
            </a:r>
            <a:r>
              <a:rPr dirty="0"/>
              <a:t> 5/5: JWT, RBAC, CSRF </a:t>
            </a:r>
            <a:r>
              <a:rPr dirty="0" err="1"/>
              <a:t>koruması</a:t>
            </a:r>
            <a:r>
              <a:rPr dirty="0"/>
              <a:t> </a:t>
            </a:r>
            <a:r>
              <a:rPr dirty="0" err="1"/>
              <a:t>dahili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gelir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Ekip</a:t>
            </a:r>
            <a:r>
              <a:rPr dirty="0"/>
              <a:t> </a:t>
            </a:r>
            <a:r>
              <a:rPr dirty="0" err="1"/>
              <a:t>yetkinliği</a:t>
            </a:r>
            <a:r>
              <a:rPr dirty="0"/>
              <a:t> 5/5: </a:t>
            </a:r>
            <a:r>
              <a:rPr dirty="0" err="1"/>
              <a:t>Ekibimiz</a:t>
            </a:r>
            <a:r>
              <a:rPr dirty="0"/>
              <a:t> Python </a:t>
            </a:r>
            <a:r>
              <a:rPr dirty="0" err="1"/>
              <a:t>konusunda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deneyimli</a:t>
            </a:r>
            <a:r>
              <a:rPr dirty="0"/>
              <a:t>.</a:t>
            </a:r>
          </a:p>
          <a:p>
            <a:r>
              <a:rPr dirty="0"/>
              <a:t>- OOP </a:t>
            </a:r>
            <a:r>
              <a:rPr dirty="0" err="1"/>
              <a:t>uyumu</a:t>
            </a:r>
            <a:r>
              <a:rPr dirty="0"/>
              <a:t> 4/5: Python </a:t>
            </a:r>
            <a:r>
              <a:rPr dirty="0" err="1"/>
              <a:t>nesne</a:t>
            </a:r>
            <a:r>
              <a:rPr dirty="0"/>
              <a:t> </a:t>
            </a:r>
            <a:r>
              <a:rPr dirty="0" err="1"/>
              <a:t>yönelimli</a:t>
            </a:r>
            <a:r>
              <a:rPr dirty="0"/>
              <a:t> ama Java </a:t>
            </a:r>
            <a:r>
              <a:rPr dirty="0" err="1"/>
              <a:t>kadar</a:t>
            </a:r>
            <a:r>
              <a:rPr dirty="0"/>
              <a:t> </a:t>
            </a:r>
            <a:r>
              <a:rPr dirty="0" err="1"/>
              <a:t>katı</a:t>
            </a:r>
            <a:r>
              <a:rPr dirty="0"/>
              <a:t> tip </a:t>
            </a:r>
            <a:r>
              <a:rPr dirty="0" err="1"/>
              <a:t>sistemi</a:t>
            </a:r>
            <a:r>
              <a:rPr dirty="0"/>
              <a:t> yok.</a:t>
            </a:r>
          </a:p>
          <a:p>
            <a:endParaRPr dirty="0"/>
          </a:p>
          <a:p>
            <a:r>
              <a:rPr dirty="0"/>
              <a:t>Express.js (Node): </a:t>
            </a:r>
            <a:r>
              <a:rPr dirty="0" err="1"/>
              <a:t>Toplam</a:t>
            </a:r>
            <a:r>
              <a:rPr dirty="0"/>
              <a:t> 12 </a:t>
            </a:r>
            <a:r>
              <a:rPr dirty="0" err="1"/>
              <a:t>puan</a:t>
            </a:r>
            <a:endParaRPr dirty="0"/>
          </a:p>
          <a:p>
            <a:r>
              <a:rPr dirty="0"/>
              <a:t>- </a:t>
            </a:r>
            <a:r>
              <a:rPr dirty="0" err="1"/>
              <a:t>Hızlı</a:t>
            </a:r>
            <a:r>
              <a:rPr dirty="0"/>
              <a:t> ama </a:t>
            </a:r>
            <a:r>
              <a:rPr dirty="0" err="1"/>
              <a:t>güvenlik</a:t>
            </a:r>
            <a:r>
              <a:rPr dirty="0"/>
              <a:t> </a:t>
            </a:r>
            <a:r>
              <a:rPr dirty="0" err="1"/>
              <a:t>katmanları</a:t>
            </a:r>
            <a:r>
              <a:rPr dirty="0"/>
              <a:t> </a:t>
            </a:r>
            <a:r>
              <a:rPr dirty="0" err="1"/>
              <a:t>sıfırdan</a:t>
            </a:r>
            <a:r>
              <a:rPr dirty="0"/>
              <a:t> </a:t>
            </a:r>
            <a:r>
              <a:rPr dirty="0" err="1"/>
              <a:t>yazılmalı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Spring Boot (Java): </a:t>
            </a:r>
            <a:r>
              <a:rPr dirty="0" err="1"/>
              <a:t>Toplam</a:t>
            </a:r>
            <a:r>
              <a:rPr dirty="0"/>
              <a:t> 13 </a:t>
            </a:r>
            <a:r>
              <a:rPr dirty="0" err="1"/>
              <a:t>puan</a:t>
            </a:r>
            <a:endParaRPr dirty="0"/>
          </a:p>
          <a:p>
            <a:r>
              <a:rPr dirty="0"/>
              <a:t>- OOP </a:t>
            </a:r>
            <a:r>
              <a:rPr dirty="0" err="1"/>
              <a:t>uyumu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(5/5) ama </a:t>
            </a:r>
            <a:r>
              <a:rPr dirty="0" err="1"/>
              <a:t>öğrenme</a:t>
            </a:r>
            <a:r>
              <a:rPr dirty="0"/>
              <a:t> </a:t>
            </a:r>
            <a:r>
              <a:rPr dirty="0" err="1"/>
              <a:t>eğrisi</a:t>
            </a:r>
            <a:r>
              <a:rPr dirty="0"/>
              <a:t>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dik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ekip</a:t>
            </a:r>
            <a:r>
              <a:rPr dirty="0"/>
              <a:t> </a:t>
            </a:r>
            <a:r>
              <a:rPr dirty="0" err="1"/>
              <a:t>deneyimi</a:t>
            </a:r>
            <a:r>
              <a:rPr dirty="0"/>
              <a:t> </a:t>
            </a:r>
            <a:r>
              <a:rPr dirty="0" err="1"/>
              <a:t>düşük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Sonuç</a:t>
            </a:r>
            <a:r>
              <a:rPr dirty="0"/>
              <a:t>: </a:t>
            </a:r>
            <a:r>
              <a:rPr dirty="0" err="1"/>
              <a:t>Güvenlik</a:t>
            </a:r>
            <a:r>
              <a:rPr dirty="0"/>
              <a:t> </a:t>
            </a:r>
            <a:r>
              <a:rPr dirty="0" err="1"/>
              <a:t>altyapısı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ekibin</a:t>
            </a:r>
            <a:r>
              <a:rPr dirty="0"/>
              <a:t> </a:t>
            </a:r>
            <a:r>
              <a:rPr dirty="0" err="1"/>
              <a:t>hızı</a:t>
            </a:r>
            <a:r>
              <a:rPr dirty="0"/>
              <a:t> </a:t>
            </a:r>
            <a:r>
              <a:rPr dirty="0" err="1"/>
              <a:t>göz</a:t>
            </a:r>
            <a:r>
              <a:rPr dirty="0"/>
              <a:t> </a:t>
            </a:r>
            <a:r>
              <a:rPr dirty="0" err="1"/>
              <a:t>önüne</a:t>
            </a:r>
            <a:r>
              <a:rPr dirty="0"/>
              <a:t> </a:t>
            </a:r>
            <a:r>
              <a:rPr dirty="0" err="1"/>
              <a:t>alınarak</a:t>
            </a:r>
            <a:r>
              <a:rPr dirty="0"/>
              <a:t> Django REST Framework </a:t>
            </a:r>
            <a:r>
              <a:rPr dirty="0" err="1"/>
              <a:t>seçildi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Veritabanı</a:t>
            </a:r>
            <a:r>
              <a:rPr dirty="0"/>
              <a:t> Karar </a:t>
            </a:r>
            <a:r>
              <a:rPr dirty="0" err="1"/>
              <a:t>Matrisi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PostgreSQL: </a:t>
            </a:r>
            <a:r>
              <a:rPr dirty="0" err="1"/>
              <a:t>Toplam</a:t>
            </a:r>
            <a:r>
              <a:rPr dirty="0"/>
              <a:t> 20 </a:t>
            </a:r>
            <a:r>
              <a:rPr dirty="0" err="1"/>
              <a:t>puan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açık</a:t>
            </a:r>
            <a:r>
              <a:rPr dirty="0"/>
              <a:t> </a:t>
            </a:r>
            <a:r>
              <a:rPr dirty="0" err="1"/>
              <a:t>ara</a:t>
            </a:r>
            <a:r>
              <a:rPr dirty="0"/>
              <a:t> </a:t>
            </a:r>
            <a:r>
              <a:rPr dirty="0" err="1"/>
              <a:t>birinci</a:t>
            </a:r>
            <a:r>
              <a:rPr dirty="0"/>
              <a:t>.</a:t>
            </a:r>
          </a:p>
          <a:p>
            <a:r>
              <a:rPr dirty="0"/>
              <a:t>- ACID </a:t>
            </a:r>
            <a:r>
              <a:rPr dirty="0" err="1"/>
              <a:t>uyumu</a:t>
            </a:r>
            <a:r>
              <a:rPr dirty="0"/>
              <a:t> 5/5: </a:t>
            </a:r>
            <a:r>
              <a:rPr dirty="0" err="1"/>
              <a:t>Sağlık</a:t>
            </a:r>
            <a:r>
              <a:rPr dirty="0"/>
              <a:t> </a:t>
            </a:r>
            <a:r>
              <a:rPr dirty="0" err="1"/>
              <a:t>verileri</a:t>
            </a:r>
            <a:r>
              <a:rPr dirty="0"/>
              <a:t> </a:t>
            </a:r>
            <a:r>
              <a:rPr dirty="0" err="1"/>
              <a:t>kesinlikle</a:t>
            </a:r>
            <a:r>
              <a:rPr dirty="0"/>
              <a:t> </a:t>
            </a:r>
            <a:r>
              <a:rPr dirty="0" err="1"/>
              <a:t>tutarlı</a:t>
            </a:r>
            <a:r>
              <a:rPr dirty="0"/>
              <a:t> </a:t>
            </a:r>
            <a:r>
              <a:rPr dirty="0" err="1"/>
              <a:t>olmalı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İlişki</a:t>
            </a:r>
            <a:r>
              <a:rPr dirty="0"/>
              <a:t> </a:t>
            </a:r>
            <a:r>
              <a:rPr dirty="0" err="1"/>
              <a:t>modelleme</a:t>
            </a:r>
            <a:r>
              <a:rPr dirty="0"/>
              <a:t> 5/5: </a:t>
            </a:r>
            <a:r>
              <a:rPr dirty="0" err="1"/>
              <a:t>Sınıf</a:t>
            </a:r>
            <a:r>
              <a:rPr dirty="0"/>
              <a:t> </a:t>
            </a:r>
            <a:r>
              <a:rPr dirty="0" err="1"/>
              <a:t>diyagramındaki</a:t>
            </a:r>
            <a:r>
              <a:rPr dirty="0"/>
              <a:t> 1'e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ilişkiler</a:t>
            </a:r>
            <a:r>
              <a:rPr dirty="0"/>
              <a:t> </a:t>
            </a:r>
            <a:r>
              <a:rPr dirty="0" err="1"/>
              <a:t>ForeignKey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birebir</a:t>
            </a:r>
            <a:r>
              <a:rPr dirty="0"/>
              <a:t> </a:t>
            </a:r>
            <a:r>
              <a:rPr dirty="0" err="1"/>
              <a:t>eşlenir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Ölçeklenebilirlik</a:t>
            </a:r>
            <a:r>
              <a:rPr dirty="0"/>
              <a:t> 5/5: Production </a:t>
            </a:r>
            <a:r>
              <a:rPr dirty="0" err="1"/>
              <a:t>ortamında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</a:t>
            </a:r>
            <a:r>
              <a:rPr dirty="0" err="1"/>
              <a:t>yük</a:t>
            </a:r>
            <a:r>
              <a:rPr dirty="0"/>
              <a:t> </a:t>
            </a:r>
            <a:r>
              <a:rPr dirty="0" err="1"/>
              <a:t>altında</a:t>
            </a:r>
            <a:r>
              <a:rPr dirty="0"/>
              <a:t> </a:t>
            </a:r>
            <a:r>
              <a:rPr dirty="0" err="1"/>
              <a:t>çalışabilir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Medikal</a:t>
            </a:r>
            <a:r>
              <a:rPr dirty="0"/>
              <a:t> </a:t>
            </a:r>
            <a:r>
              <a:rPr dirty="0" err="1"/>
              <a:t>güvenlik</a:t>
            </a:r>
            <a:r>
              <a:rPr dirty="0"/>
              <a:t> 5/5: </a:t>
            </a:r>
            <a:r>
              <a:rPr dirty="0" err="1"/>
              <a:t>Şema</a:t>
            </a:r>
            <a:r>
              <a:rPr dirty="0"/>
              <a:t> </a:t>
            </a:r>
            <a:r>
              <a:rPr dirty="0" err="1"/>
              <a:t>izolasyonu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multi-tenant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güvenliği</a:t>
            </a:r>
            <a:r>
              <a:rPr dirty="0"/>
              <a:t> </a:t>
            </a:r>
            <a:r>
              <a:rPr dirty="0" err="1"/>
              <a:t>sağlanır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MongoDB </a:t>
            </a:r>
            <a:r>
              <a:rPr dirty="0" err="1"/>
              <a:t>elenme</a:t>
            </a:r>
            <a:r>
              <a:rPr dirty="0"/>
              <a:t> </a:t>
            </a:r>
            <a:r>
              <a:rPr dirty="0" err="1"/>
              <a:t>nedeni</a:t>
            </a:r>
            <a:r>
              <a:rPr dirty="0"/>
              <a:t>: </a:t>
            </a:r>
            <a:r>
              <a:rPr dirty="0" err="1"/>
              <a:t>Şemasız</a:t>
            </a:r>
            <a:r>
              <a:rPr dirty="0"/>
              <a:t> </a:t>
            </a:r>
            <a:r>
              <a:rPr dirty="0" err="1"/>
              <a:t>yapısı</a:t>
            </a:r>
            <a:r>
              <a:rPr dirty="0"/>
              <a:t> </a:t>
            </a:r>
            <a:r>
              <a:rPr dirty="0" err="1"/>
              <a:t>sağlık</a:t>
            </a:r>
            <a:r>
              <a:rPr dirty="0"/>
              <a:t> </a:t>
            </a:r>
            <a:r>
              <a:rPr dirty="0" err="1"/>
              <a:t>verilerinde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bütünlüğü</a:t>
            </a:r>
            <a:r>
              <a:rPr dirty="0"/>
              <a:t> </a:t>
            </a:r>
            <a:r>
              <a:rPr dirty="0" err="1"/>
              <a:t>riskleri</a:t>
            </a:r>
            <a:r>
              <a:rPr dirty="0"/>
              <a:t> </a:t>
            </a:r>
            <a:r>
              <a:rPr dirty="0" err="1"/>
              <a:t>taşır</a:t>
            </a:r>
            <a:r>
              <a:rPr dirty="0"/>
              <a:t>.</a:t>
            </a:r>
          </a:p>
          <a:p>
            <a:r>
              <a:rPr dirty="0"/>
              <a:t>SQLite </a:t>
            </a:r>
            <a:r>
              <a:rPr dirty="0" err="1"/>
              <a:t>elenme</a:t>
            </a:r>
            <a:r>
              <a:rPr dirty="0"/>
              <a:t> </a:t>
            </a:r>
            <a:r>
              <a:rPr dirty="0" err="1"/>
              <a:t>nedeni</a:t>
            </a:r>
            <a:r>
              <a:rPr dirty="0"/>
              <a:t>: Production </a:t>
            </a:r>
            <a:r>
              <a:rPr dirty="0" err="1"/>
              <a:t>ortamında</a:t>
            </a:r>
            <a:r>
              <a:rPr dirty="0"/>
              <a:t> </a:t>
            </a:r>
            <a:r>
              <a:rPr dirty="0" err="1"/>
              <a:t>ölçeklenemez</a:t>
            </a:r>
            <a:r>
              <a:rPr dirty="0"/>
              <a:t>,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dosya</a:t>
            </a:r>
            <a:r>
              <a:rPr dirty="0"/>
              <a:t> </a:t>
            </a:r>
            <a:r>
              <a:rPr dirty="0" err="1"/>
              <a:t>tabanlıdır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Frontend Framework Karar </a:t>
            </a:r>
            <a:r>
              <a:rPr dirty="0" err="1"/>
              <a:t>Matrisi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React.js: </a:t>
            </a:r>
            <a:r>
              <a:rPr dirty="0" err="1"/>
              <a:t>Toplam</a:t>
            </a:r>
            <a:r>
              <a:rPr dirty="0"/>
              <a:t> 20 </a:t>
            </a:r>
            <a:r>
              <a:rPr dirty="0" err="1"/>
              <a:t>puan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birinci</a:t>
            </a:r>
            <a:r>
              <a:rPr dirty="0"/>
              <a:t>.</a:t>
            </a:r>
          </a:p>
          <a:p>
            <a:r>
              <a:rPr dirty="0"/>
              <a:t>- En </a:t>
            </a:r>
            <a:r>
              <a:rPr dirty="0" err="1"/>
              <a:t>kritik</a:t>
            </a:r>
            <a:r>
              <a:rPr dirty="0"/>
              <a:t> </a:t>
            </a:r>
            <a:r>
              <a:rPr dirty="0" err="1"/>
              <a:t>avantajı</a:t>
            </a:r>
            <a:r>
              <a:rPr dirty="0"/>
              <a:t>: </a:t>
            </a:r>
            <a:r>
              <a:rPr dirty="0" err="1"/>
              <a:t>Dijital</a:t>
            </a:r>
            <a:r>
              <a:rPr dirty="0"/>
              <a:t> </a:t>
            </a:r>
            <a:r>
              <a:rPr dirty="0" err="1"/>
              <a:t>Odontogram</a:t>
            </a:r>
            <a:r>
              <a:rPr dirty="0"/>
              <a:t> </a:t>
            </a:r>
            <a:r>
              <a:rPr dirty="0" err="1"/>
              <a:t>yani</a:t>
            </a:r>
            <a:r>
              <a:rPr dirty="0"/>
              <a:t> </a:t>
            </a:r>
            <a:r>
              <a:rPr dirty="0" err="1"/>
              <a:t>diş</a:t>
            </a:r>
            <a:r>
              <a:rPr dirty="0"/>
              <a:t> </a:t>
            </a:r>
            <a:r>
              <a:rPr dirty="0" err="1"/>
              <a:t>şeması</a:t>
            </a:r>
            <a:r>
              <a:rPr dirty="0"/>
              <a:t> </a:t>
            </a:r>
            <a:r>
              <a:rPr dirty="0" err="1"/>
              <a:t>bileşeni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DOM </a:t>
            </a:r>
            <a:r>
              <a:rPr dirty="0" err="1"/>
              <a:t>manipülasyonunda</a:t>
            </a:r>
            <a:r>
              <a:rPr dirty="0"/>
              <a:t> Virtual DOM </a:t>
            </a:r>
            <a:r>
              <a:rPr dirty="0" err="1"/>
              <a:t>sayesinde</a:t>
            </a:r>
            <a:r>
              <a:rPr dirty="0"/>
              <a:t> </a:t>
            </a:r>
            <a:r>
              <a:rPr dirty="0" err="1"/>
              <a:t>performans</a:t>
            </a:r>
            <a:r>
              <a:rPr dirty="0"/>
              <a:t> </a:t>
            </a:r>
            <a:r>
              <a:rPr dirty="0" err="1"/>
              <a:t>kaybı</a:t>
            </a:r>
            <a:r>
              <a:rPr dirty="0"/>
              <a:t> </a:t>
            </a:r>
            <a:r>
              <a:rPr dirty="0" err="1"/>
              <a:t>olmuyor</a:t>
            </a:r>
            <a:r>
              <a:rPr dirty="0"/>
              <a:t>.</a:t>
            </a:r>
          </a:p>
          <a:p>
            <a:r>
              <a:rPr dirty="0"/>
              <a:t>- Component-based </a:t>
            </a:r>
            <a:r>
              <a:rPr dirty="0" err="1"/>
              <a:t>mimarisi</a:t>
            </a:r>
            <a:r>
              <a:rPr dirty="0"/>
              <a:t>, </a:t>
            </a:r>
            <a:r>
              <a:rPr dirty="0" err="1"/>
              <a:t>sınıf</a:t>
            </a:r>
            <a:r>
              <a:rPr dirty="0"/>
              <a:t> </a:t>
            </a:r>
            <a:r>
              <a:rPr dirty="0" err="1"/>
              <a:t>diyagramındaki</a:t>
            </a:r>
            <a:r>
              <a:rPr dirty="0"/>
              <a:t> Boundary </a:t>
            </a:r>
            <a:r>
              <a:rPr dirty="0" err="1"/>
              <a:t>sınıflarıyla</a:t>
            </a:r>
            <a:r>
              <a:rPr dirty="0"/>
              <a:t> </a:t>
            </a:r>
            <a:r>
              <a:rPr dirty="0" err="1"/>
              <a:t>doğrudan</a:t>
            </a:r>
            <a:r>
              <a:rPr dirty="0"/>
              <a:t> </a:t>
            </a:r>
            <a:r>
              <a:rPr dirty="0" err="1"/>
              <a:t>eşleşiyor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Alt </a:t>
            </a:r>
            <a:r>
              <a:rPr dirty="0" err="1"/>
              <a:t>kutuda</a:t>
            </a:r>
            <a:r>
              <a:rPr dirty="0"/>
              <a:t>: Backend </a:t>
            </a:r>
            <a:r>
              <a:rPr dirty="0" err="1"/>
              <a:t>dil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Python, ORM </a:t>
            </a:r>
            <a:r>
              <a:rPr dirty="0" err="1"/>
              <a:t>olarak</a:t>
            </a:r>
            <a:r>
              <a:rPr dirty="0"/>
              <a:t> Django ORM </a:t>
            </a:r>
            <a:r>
              <a:rPr dirty="0" err="1"/>
              <a:t>seçildi</a:t>
            </a:r>
            <a:r>
              <a:rPr dirty="0"/>
              <a:t>. </a:t>
            </a:r>
            <a:r>
              <a:rPr dirty="0" err="1"/>
              <a:t>Sınıf</a:t>
            </a:r>
            <a:r>
              <a:rPr dirty="0"/>
              <a:t> </a:t>
            </a:r>
            <a:r>
              <a:rPr dirty="0" err="1"/>
              <a:t>diyagramı</a:t>
            </a:r>
            <a:r>
              <a:rPr dirty="0"/>
              <a:t> </a:t>
            </a:r>
            <a:r>
              <a:rPr dirty="0" err="1"/>
              <a:t>nesnelerini</a:t>
            </a:r>
            <a:r>
              <a:rPr dirty="0"/>
              <a:t> </a:t>
            </a:r>
            <a:r>
              <a:rPr dirty="0" err="1"/>
              <a:t>tablolara</a:t>
            </a:r>
            <a:r>
              <a:rPr dirty="0"/>
              <a:t> </a:t>
            </a:r>
            <a:r>
              <a:rPr dirty="0" err="1"/>
              <a:t>birebir</a:t>
            </a:r>
            <a:r>
              <a:rPr dirty="0"/>
              <a:t> </a:t>
            </a:r>
            <a:r>
              <a:rPr dirty="0" err="1"/>
              <a:t>eşler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Proje</a:t>
            </a:r>
            <a:r>
              <a:rPr dirty="0"/>
              <a:t> </a:t>
            </a:r>
            <a:r>
              <a:rPr dirty="0" err="1"/>
              <a:t>Adımı</a:t>
            </a:r>
            <a:r>
              <a:rPr dirty="0"/>
              <a:t> 3 </a:t>
            </a:r>
            <a:r>
              <a:rPr dirty="0" err="1"/>
              <a:t>kapsamında</a:t>
            </a:r>
            <a:r>
              <a:rPr dirty="0"/>
              <a:t> </a:t>
            </a:r>
            <a:r>
              <a:rPr dirty="0" err="1"/>
              <a:t>Opsiyon</a:t>
            </a:r>
            <a:r>
              <a:rPr dirty="0"/>
              <a:t> </a:t>
            </a:r>
            <a:r>
              <a:rPr dirty="0" err="1"/>
              <a:t>A'yı</a:t>
            </a:r>
            <a:r>
              <a:rPr dirty="0"/>
              <a:t> </a:t>
            </a:r>
            <a:r>
              <a:rPr dirty="0" err="1"/>
              <a:t>seçtik</a:t>
            </a:r>
            <a:r>
              <a:rPr dirty="0"/>
              <a:t>: </a:t>
            </a:r>
            <a:r>
              <a:rPr dirty="0" err="1"/>
              <a:t>İç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Dış</a:t>
            </a:r>
            <a:r>
              <a:rPr dirty="0"/>
              <a:t> </a:t>
            </a:r>
            <a:r>
              <a:rPr dirty="0" err="1"/>
              <a:t>Arayüzlerin</a:t>
            </a:r>
            <a:r>
              <a:rPr dirty="0"/>
              <a:t> </a:t>
            </a:r>
            <a:r>
              <a:rPr dirty="0" err="1"/>
              <a:t>Gerçeklenmesi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Swagger </a:t>
            </a:r>
            <a:r>
              <a:rPr dirty="0" err="1"/>
              <a:t>yani</a:t>
            </a:r>
            <a:r>
              <a:rPr dirty="0"/>
              <a:t> </a:t>
            </a:r>
            <a:r>
              <a:rPr dirty="0" err="1"/>
              <a:t>drf</a:t>
            </a:r>
            <a:r>
              <a:rPr dirty="0"/>
              <a:t>-spectacular </a:t>
            </a:r>
            <a:r>
              <a:rPr dirty="0" err="1"/>
              <a:t>kullanarak</a:t>
            </a:r>
            <a:r>
              <a:rPr dirty="0"/>
              <a:t> </a:t>
            </a:r>
            <a:r>
              <a:rPr dirty="0" err="1"/>
              <a:t>tüm</a:t>
            </a:r>
            <a:r>
              <a:rPr dirty="0"/>
              <a:t> API </a:t>
            </a:r>
            <a:r>
              <a:rPr dirty="0" err="1"/>
              <a:t>endpointlerini</a:t>
            </a:r>
            <a:r>
              <a:rPr dirty="0"/>
              <a:t> </a:t>
            </a:r>
            <a:r>
              <a:rPr dirty="0" err="1"/>
              <a:t>canlı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dokümante</a:t>
            </a:r>
            <a:r>
              <a:rPr dirty="0"/>
              <a:t> </a:t>
            </a:r>
            <a:r>
              <a:rPr dirty="0" err="1"/>
              <a:t>ettik</a:t>
            </a:r>
            <a:r>
              <a:rPr dirty="0"/>
              <a:t>.</a:t>
            </a:r>
          </a:p>
          <a:p>
            <a:endParaRPr dirty="0"/>
          </a:p>
          <a:p>
            <a:r>
              <a:rPr lang="en-US" dirty="0"/>
              <a:t>3 </a:t>
            </a:r>
            <a:r>
              <a:rPr dirty="0"/>
              <a:t> </a:t>
            </a:r>
            <a:r>
              <a:rPr dirty="0" err="1"/>
              <a:t>temel</a:t>
            </a:r>
            <a:r>
              <a:rPr dirty="0"/>
              <a:t> API </a:t>
            </a:r>
            <a:r>
              <a:rPr dirty="0" err="1"/>
              <a:t>kontratımızı</a:t>
            </a:r>
            <a:r>
              <a:rPr dirty="0"/>
              <a:t> </a:t>
            </a:r>
            <a:r>
              <a:rPr dirty="0" err="1"/>
              <a:t>inceliyoruz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A) POST /</a:t>
            </a:r>
            <a:r>
              <a:rPr dirty="0" err="1"/>
              <a:t>api</a:t>
            </a:r>
            <a:r>
              <a:rPr dirty="0"/>
              <a:t>/auth/token/ - JWT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oturum</a:t>
            </a:r>
            <a:r>
              <a:rPr dirty="0"/>
              <a:t> </a:t>
            </a:r>
            <a:r>
              <a:rPr dirty="0" err="1"/>
              <a:t>açma</a:t>
            </a:r>
            <a:r>
              <a:rPr dirty="0"/>
              <a:t>:</a:t>
            </a:r>
          </a:p>
          <a:p>
            <a:r>
              <a:rPr dirty="0"/>
              <a:t>Request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kullanıcı</a:t>
            </a:r>
            <a:r>
              <a:rPr dirty="0"/>
              <a:t> </a:t>
            </a:r>
            <a:r>
              <a:rPr dirty="0" err="1"/>
              <a:t>adı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parola</a:t>
            </a:r>
            <a:r>
              <a:rPr dirty="0"/>
              <a:t> </a:t>
            </a:r>
            <a:r>
              <a:rPr dirty="0" err="1"/>
              <a:t>gönderilir</a:t>
            </a:r>
            <a:r>
              <a:rPr dirty="0"/>
              <a:t>. </a:t>
            </a:r>
            <a:r>
              <a:rPr dirty="0" err="1"/>
              <a:t>Başarılı</a:t>
            </a:r>
            <a:r>
              <a:rPr dirty="0"/>
              <a:t> </a:t>
            </a:r>
            <a:r>
              <a:rPr dirty="0" err="1"/>
              <a:t>olursa</a:t>
            </a:r>
            <a:r>
              <a:rPr dirty="0"/>
              <a:t> access </a:t>
            </a:r>
            <a:r>
              <a:rPr dirty="0" err="1"/>
              <a:t>ve</a:t>
            </a:r>
            <a:r>
              <a:rPr dirty="0"/>
              <a:t> refresh token </a:t>
            </a:r>
            <a:r>
              <a:rPr dirty="0" err="1"/>
              <a:t>çifti</a:t>
            </a:r>
            <a:r>
              <a:rPr dirty="0"/>
              <a:t> döner. </a:t>
            </a:r>
            <a:r>
              <a:rPr dirty="0" err="1"/>
              <a:t>Hatalı</a:t>
            </a:r>
            <a:r>
              <a:rPr dirty="0"/>
              <a:t> </a:t>
            </a:r>
            <a:r>
              <a:rPr dirty="0" err="1"/>
              <a:t>girişte</a:t>
            </a:r>
            <a:r>
              <a:rPr dirty="0"/>
              <a:t> 401, </a:t>
            </a:r>
            <a:r>
              <a:rPr dirty="0" err="1"/>
              <a:t>eksik</a:t>
            </a:r>
            <a:r>
              <a:rPr dirty="0"/>
              <a:t> </a:t>
            </a:r>
            <a:r>
              <a:rPr dirty="0" err="1"/>
              <a:t>parametrede</a:t>
            </a:r>
            <a:r>
              <a:rPr dirty="0"/>
              <a:t> 400 </a:t>
            </a:r>
            <a:r>
              <a:rPr dirty="0" err="1"/>
              <a:t>hata</a:t>
            </a:r>
            <a:r>
              <a:rPr dirty="0"/>
              <a:t> </a:t>
            </a:r>
            <a:r>
              <a:rPr dirty="0" err="1"/>
              <a:t>kodu</a:t>
            </a:r>
            <a:r>
              <a:rPr dirty="0"/>
              <a:t> döner.</a:t>
            </a:r>
          </a:p>
          <a:p>
            <a:endParaRPr dirty="0"/>
          </a:p>
          <a:p>
            <a:r>
              <a:rPr lang="en-US" dirty="0"/>
              <a:t>b</a:t>
            </a:r>
            <a:r>
              <a:rPr dirty="0"/>
              <a:t>) POST /</a:t>
            </a:r>
            <a:r>
              <a:rPr dirty="0" err="1"/>
              <a:t>api</a:t>
            </a:r>
            <a:r>
              <a:rPr dirty="0"/>
              <a:t>/appointments/ - </a:t>
            </a:r>
            <a:r>
              <a:rPr dirty="0" err="1"/>
              <a:t>Çakışma</a:t>
            </a:r>
            <a:r>
              <a:rPr dirty="0"/>
              <a:t> </a:t>
            </a:r>
            <a:r>
              <a:rPr dirty="0" err="1"/>
              <a:t>kontrollü</a:t>
            </a:r>
            <a:r>
              <a:rPr dirty="0"/>
              <a:t> </a:t>
            </a:r>
            <a:r>
              <a:rPr dirty="0" err="1"/>
              <a:t>randevu</a:t>
            </a:r>
            <a:r>
              <a:rPr dirty="0"/>
              <a:t>:</a:t>
            </a:r>
          </a:p>
          <a:p>
            <a:r>
              <a:rPr dirty="0"/>
              <a:t>Hasta ID, </a:t>
            </a:r>
            <a:r>
              <a:rPr dirty="0" err="1"/>
              <a:t>doktor</a:t>
            </a:r>
            <a:r>
              <a:rPr dirty="0"/>
              <a:t> ID, </a:t>
            </a:r>
            <a:r>
              <a:rPr dirty="0" err="1"/>
              <a:t>tarih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saat</a:t>
            </a:r>
            <a:r>
              <a:rPr dirty="0"/>
              <a:t> </a:t>
            </a:r>
            <a:r>
              <a:rPr dirty="0" err="1"/>
              <a:t>gönderilir</a:t>
            </a:r>
            <a:r>
              <a:rPr dirty="0"/>
              <a:t>. </a:t>
            </a:r>
            <a:r>
              <a:rPr dirty="0" err="1"/>
              <a:t>Çakışma</a:t>
            </a:r>
            <a:r>
              <a:rPr dirty="0"/>
              <a:t> </a:t>
            </a:r>
            <a:r>
              <a:rPr dirty="0" err="1"/>
              <a:t>varsa</a:t>
            </a:r>
            <a:r>
              <a:rPr dirty="0"/>
              <a:t> 400, </a:t>
            </a:r>
            <a:r>
              <a:rPr dirty="0" err="1"/>
              <a:t>yetkisiz</a:t>
            </a:r>
            <a:r>
              <a:rPr dirty="0"/>
              <a:t> </a:t>
            </a:r>
            <a:r>
              <a:rPr dirty="0" err="1"/>
              <a:t>ise</a:t>
            </a:r>
            <a:r>
              <a:rPr dirty="0"/>
              <a:t> 403, </a:t>
            </a:r>
            <a:r>
              <a:rPr dirty="0" err="1"/>
              <a:t>başarılı</a:t>
            </a:r>
            <a:r>
              <a:rPr dirty="0"/>
              <a:t> </a:t>
            </a:r>
            <a:r>
              <a:rPr dirty="0" err="1"/>
              <a:t>ise</a:t>
            </a:r>
            <a:r>
              <a:rPr dirty="0"/>
              <a:t> 201 döner.</a:t>
            </a:r>
          </a:p>
          <a:p>
            <a:endParaRPr dirty="0"/>
          </a:p>
          <a:p>
            <a:r>
              <a:rPr lang="en-US" dirty="0"/>
              <a:t>c</a:t>
            </a:r>
            <a:r>
              <a:rPr dirty="0"/>
              <a:t>) GET /</a:t>
            </a:r>
            <a:r>
              <a:rPr dirty="0" err="1"/>
              <a:t>api</a:t>
            </a:r>
            <a:r>
              <a:rPr dirty="0"/>
              <a:t>/dashboard/today/ - </a:t>
            </a:r>
            <a:r>
              <a:rPr dirty="0" err="1"/>
              <a:t>Günlük</a:t>
            </a:r>
            <a:r>
              <a:rPr dirty="0"/>
              <a:t> </a:t>
            </a:r>
            <a:r>
              <a:rPr dirty="0" err="1"/>
              <a:t>özet</a:t>
            </a:r>
            <a:r>
              <a:rPr dirty="0"/>
              <a:t>:</a:t>
            </a:r>
          </a:p>
          <a:p>
            <a:r>
              <a:rPr dirty="0"/>
              <a:t>Tek </a:t>
            </a:r>
            <a:r>
              <a:rPr dirty="0" err="1"/>
              <a:t>endpoint'ten</a:t>
            </a:r>
            <a:r>
              <a:rPr dirty="0"/>
              <a:t> </a:t>
            </a:r>
            <a:r>
              <a:rPr dirty="0" err="1"/>
              <a:t>bugünkü</a:t>
            </a:r>
            <a:r>
              <a:rPr dirty="0"/>
              <a:t> </a:t>
            </a:r>
            <a:r>
              <a:rPr dirty="0" err="1"/>
              <a:t>randevular</a:t>
            </a:r>
            <a:r>
              <a:rPr dirty="0"/>
              <a:t>, </a:t>
            </a:r>
            <a:r>
              <a:rPr dirty="0" err="1"/>
              <a:t>toplam</a:t>
            </a:r>
            <a:r>
              <a:rPr dirty="0"/>
              <a:t>, </a:t>
            </a:r>
            <a:r>
              <a:rPr dirty="0" err="1"/>
              <a:t>tamamlanan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hasta </a:t>
            </a:r>
            <a:r>
              <a:rPr dirty="0" err="1"/>
              <a:t>sayısı</a:t>
            </a:r>
            <a:r>
              <a:rPr dirty="0"/>
              <a:t> döner.</a:t>
            </a:r>
          </a:p>
          <a:p>
            <a:endParaRPr dirty="0"/>
          </a:p>
          <a:p>
            <a:r>
              <a:rPr dirty="0" err="1"/>
              <a:t>Sağ</a:t>
            </a:r>
            <a:r>
              <a:rPr dirty="0"/>
              <a:t> alt </a:t>
            </a:r>
            <a:r>
              <a:rPr dirty="0" err="1"/>
              <a:t>köşede</a:t>
            </a:r>
            <a:r>
              <a:rPr dirty="0"/>
              <a:t> </a:t>
            </a:r>
            <a:r>
              <a:rPr dirty="0" err="1"/>
              <a:t>katmanlar</a:t>
            </a:r>
            <a:r>
              <a:rPr dirty="0"/>
              <a:t> </a:t>
            </a:r>
            <a:r>
              <a:rPr dirty="0" err="1"/>
              <a:t>arası</a:t>
            </a:r>
            <a:r>
              <a:rPr dirty="0"/>
              <a:t> </a:t>
            </a:r>
            <a:r>
              <a:rPr dirty="0" err="1"/>
              <a:t>iletişim</a:t>
            </a:r>
            <a:r>
              <a:rPr dirty="0"/>
              <a:t> </a:t>
            </a:r>
            <a:r>
              <a:rPr dirty="0" err="1"/>
              <a:t>açıklanıyor</a:t>
            </a:r>
            <a:r>
              <a:rPr dirty="0"/>
              <a:t>: Model, </a:t>
            </a:r>
            <a:r>
              <a:rPr dirty="0" err="1"/>
              <a:t>ViewSet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Serializer JSON </a:t>
            </a:r>
            <a:r>
              <a:rPr dirty="0" err="1"/>
              <a:t>paketleriyle</a:t>
            </a:r>
            <a:r>
              <a:rPr dirty="0"/>
              <a:t> </a:t>
            </a:r>
            <a:r>
              <a:rPr dirty="0" err="1"/>
              <a:t>haberleşir</a:t>
            </a:r>
            <a:r>
              <a:rPr dirty="0"/>
              <a:t>. </a:t>
            </a:r>
            <a:r>
              <a:rPr dirty="0" err="1"/>
              <a:t>get_serializer_class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create </a:t>
            </a:r>
            <a:r>
              <a:rPr dirty="0" err="1"/>
              <a:t>ve</a:t>
            </a:r>
            <a:r>
              <a:rPr dirty="0"/>
              <a:t> update </a:t>
            </a:r>
            <a:r>
              <a:rPr dirty="0" err="1"/>
              <a:t>işlemleri</a:t>
            </a:r>
            <a:r>
              <a:rPr dirty="0"/>
              <a:t> </a:t>
            </a:r>
            <a:r>
              <a:rPr dirty="0" err="1"/>
              <a:t>farklı</a:t>
            </a:r>
            <a:r>
              <a:rPr dirty="0"/>
              <a:t> </a:t>
            </a:r>
            <a:r>
              <a:rPr dirty="0" err="1"/>
              <a:t>serializer'lara</a:t>
            </a:r>
            <a:r>
              <a:rPr dirty="0"/>
              <a:t> </a:t>
            </a:r>
            <a:r>
              <a:rPr dirty="0" err="1"/>
              <a:t>yönlendirilir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 tarafta Harici SMS Entegrasyonu:</a:t>
            </a:r>
          </a:p>
          <a:p>
            <a:r>
              <a:t>- Randevu oluşturulduğunda harici bir SMS API'sine bildirim isteği atılır.</a:t>
            </a:r>
          </a:p>
          <a:p>
            <a:r>
              <a:t>- Payload: api_key, phone_number ve message içerir.</a:t>
            </a:r>
          </a:p>
          <a:p>
            <a:r>
              <a:t>- ÖNEMLİ: SMS API timeout olursa veya hata verirse uygulama ÇÖKMEZ. Hata log sisteme kaydedilir ve randevu asenkron olarak tamamlanır. Bu "fail gracefully" prensibidir.</a:t>
            </a:r>
          </a:p>
          <a:p>
            <a:r>
              <a:t>- Frontend tarafında axios kütüphanesi ile JWT token otomatik olarak her isteğin Header'ına eklenir (interceptor pattern).</a:t>
            </a:r>
          </a:p>
          <a:p>
            <a:endParaRPr/>
          </a:p>
          <a:p>
            <a:r>
              <a:t>Sağ tarafta Multi-Tenant Mimarisi:</a:t>
            </a:r>
          </a:p>
          <a:p>
            <a:r>
              <a:t>- django-tenants kütüphanesi ile "schema-per-tenant" yaklaşımı kullanıyoruz.</a:t>
            </a:r>
          </a:p>
          <a:p>
            <a:r>
              <a:t>- HeaderTenantMiddleware, her gelen HTTP isteğinde domain veya X-Tenant header'ından hangi kliniğe ait olduğunu çözer.</a:t>
            </a:r>
          </a:p>
          <a:p>
            <a:r>
              <a:t>- PostgreSQL şemasını o kliniğe yönlendirir.</a:t>
            </a:r>
          </a:p>
          <a:p>
            <a:r>
              <a:t>- Sonuç: Her klinik kendi veritabanı şemasında çalışır. Kiracılar arası veri sızıntısı mimari düzeyde imkânsızdır.</a:t>
            </a:r>
          </a:p>
          <a:p>
            <a:r>
              <a:t>- Bu yapıyı birim testlerde de doğruladık - UT-006'dan UT-011'e kadar HeaderTenantMiddleware testleri bu mekanizmayı test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Proje</a:t>
            </a:r>
            <a:r>
              <a:rPr dirty="0"/>
              <a:t> </a:t>
            </a:r>
            <a:r>
              <a:rPr dirty="0" err="1"/>
              <a:t>Adımı</a:t>
            </a:r>
            <a:r>
              <a:rPr dirty="0"/>
              <a:t> 4'te </a:t>
            </a:r>
            <a:r>
              <a:rPr dirty="0" err="1"/>
              <a:t>birim</a:t>
            </a:r>
            <a:r>
              <a:rPr dirty="0"/>
              <a:t> test </a:t>
            </a:r>
            <a:r>
              <a:rPr dirty="0" err="1"/>
              <a:t>çalışması</a:t>
            </a:r>
            <a:r>
              <a:rPr dirty="0"/>
              <a:t> </a:t>
            </a:r>
            <a:r>
              <a:rPr dirty="0" err="1"/>
              <a:t>gerçekleştirdik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Test </a:t>
            </a:r>
            <a:r>
              <a:rPr dirty="0" err="1"/>
              <a:t>Araçlarımız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pytest</a:t>
            </a:r>
            <a:r>
              <a:rPr dirty="0"/>
              <a:t>: </a:t>
            </a:r>
            <a:r>
              <a:rPr dirty="0" err="1"/>
              <a:t>Python'un</a:t>
            </a:r>
            <a:r>
              <a:rPr dirty="0"/>
              <a:t> </a:t>
            </a:r>
            <a:r>
              <a:rPr dirty="0" err="1"/>
              <a:t>endüstri</a:t>
            </a:r>
            <a:r>
              <a:rPr dirty="0"/>
              <a:t> </a:t>
            </a:r>
            <a:r>
              <a:rPr dirty="0" err="1"/>
              <a:t>standardı</a:t>
            </a:r>
            <a:r>
              <a:rPr dirty="0"/>
              <a:t> test </a:t>
            </a:r>
            <a:r>
              <a:rPr dirty="0" err="1"/>
              <a:t>framework'ü</a:t>
            </a:r>
            <a:r>
              <a:rPr dirty="0"/>
              <a:t>. Sade assert </a:t>
            </a:r>
            <a:r>
              <a:rPr dirty="0" err="1"/>
              <a:t>sözdizimi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boilerplate.</a:t>
            </a:r>
          </a:p>
          <a:p>
            <a:r>
              <a:rPr dirty="0"/>
              <a:t>- </a:t>
            </a:r>
            <a:r>
              <a:rPr dirty="0" err="1"/>
              <a:t>pytest-django</a:t>
            </a:r>
            <a:r>
              <a:rPr dirty="0"/>
              <a:t>: Her test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izole</a:t>
            </a:r>
            <a:r>
              <a:rPr dirty="0"/>
              <a:t>, </a:t>
            </a:r>
            <a:r>
              <a:rPr dirty="0" err="1"/>
              <a:t>otomatik</a:t>
            </a:r>
            <a:r>
              <a:rPr dirty="0"/>
              <a:t> </a:t>
            </a:r>
            <a:r>
              <a:rPr dirty="0" err="1"/>
              <a:t>rollback'li</a:t>
            </a:r>
            <a:r>
              <a:rPr dirty="0"/>
              <a:t> </a:t>
            </a:r>
            <a:r>
              <a:rPr dirty="0" err="1"/>
              <a:t>veritabanı</a:t>
            </a:r>
            <a:r>
              <a:rPr dirty="0"/>
              <a:t> </a:t>
            </a:r>
            <a:r>
              <a:rPr dirty="0" err="1"/>
              <a:t>sağlar</a:t>
            </a:r>
            <a:r>
              <a:rPr dirty="0"/>
              <a:t>. </a:t>
            </a:r>
            <a:r>
              <a:rPr dirty="0" err="1"/>
              <a:t>Testler</a:t>
            </a:r>
            <a:r>
              <a:rPr dirty="0"/>
              <a:t> </a:t>
            </a:r>
            <a:r>
              <a:rPr dirty="0" err="1"/>
              <a:t>birbirini</a:t>
            </a:r>
            <a:r>
              <a:rPr dirty="0"/>
              <a:t> </a:t>
            </a:r>
            <a:r>
              <a:rPr dirty="0" err="1"/>
              <a:t>etkilemez</a:t>
            </a:r>
            <a:r>
              <a:rPr dirty="0"/>
              <a:t>.</a:t>
            </a:r>
          </a:p>
          <a:p>
            <a:r>
              <a:rPr dirty="0"/>
              <a:t>- factory-boy + Faker: Hasta, </a:t>
            </a:r>
            <a:r>
              <a:rPr dirty="0" err="1"/>
              <a:t>Doktor</a:t>
            </a:r>
            <a:r>
              <a:rPr dirty="0"/>
              <a:t>, Tedavi </a:t>
            </a:r>
            <a:r>
              <a:rPr dirty="0" err="1"/>
              <a:t>gibi</a:t>
            </a:r>
            <a:r>
              <a:rPr dirty="0"/>
              <a:t> test </a:t>
            </a:r>
            <a:r>
              <a:rPr dirty="0" err="1"/>
              <a:t>nesnelerini</a:t>
            </a:r>
            <a:r>
              <a:rPr dirty="0"/>
              <a:t>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satırda</a:t>
            </a:r>
            <a:r>
              <a:rPr dirty="0"/>
              <a:t> </a:t>
            </a:r>
            <a:r>
              <a:rPr dirty="0" err="1"/>
              <a:t>Türkçe</a:t>
            </a:r>
            <a:r>
              <a:rPr dirty="0"/>
              <a:t> </a:t>
            </a:r>
            <a:r>
              <a:rPr dirty="0" err="1"/>
              <a:t>veriyle</a:t>
            </a:r>
            <a:r>
              <a:rPr dirty="0"/>
              <a:t> </a:t>
            </a:r>
            <a:r>
              <a:rPr dirty="0" err="1"/>
              <a:t>üretir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unittest.mock</a:t>
            </a:r>
            <a:r>
              <a:rPr dirty="0"/>
              <a:t> / </a:t>
            </a:r>
            <a:r>
              <a:rPr dirty="0" err="1"/>
              <a:t>monkeypatch</a:t>
            </a:r>
            <a:r>
              <a:rPr dirty="0"/>
              <a:t>: </a:t>
            </a:r>
            <a:r>
              <a:rPr dirty="0" err="1"/>
              <a:t>Veritabanı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dış</a:t>
            </a:r>
            <a:r>
              <a:rPr dirty="0"/>
              <a:t> </a:t>
            </a:r>
            <a:r>
              <a:rPr dirty="0" err="1"/>
              <a:t>bağımlılıkları</a:t>
            </a:r>
            <a:r>
              <a:rPr dirty="0"/>
              <a:t> </a:t>
            </a:r>
            <a:r>
              <a:rPr dirty="0" err="1"/>
              <a:t>taklit</a:t>
            </a:r>
            <a:r>
              <a:rPr dirty="0"/>
              <a:t> </a:t>
            </a:r>
            <a:r>
              <a:rPr dirty="0" err="1"/>
              <a:t>ederek</a:t>
            </a:r>
            <a:r>
              <a:rPr dirty="0"/>
              <a:t> </a:t>
            </a:r>
            <a:r>
              <a:rPr dirty="0" err="1"/>
              <a:t>metodu</a:t>
            </a:r>
            <a:r>
              <a:rPr dirty="0"/>
              <a:t> </a:t>
            </a:r>
            <a:r>
              <a:rPr dirty="0" err="1"/>
              <a:t>gerçekten</a:t>
            </a:r>
            <a:r>
              <a:rPr dirty="0"/>
              <a:t> </a:t>
            </a:r>
            <a:r>
              <a:rPr dirty="0" err="1"/>
              <a:t>izole</a:t>
            </a:r>
            <a:r>
              <a:rPr dirty="0"/>
              <a:t> </a:t>
            </a:r>
            <a:r>
              <a:rPr dirty="0" err="1"/>
              <a:t>eder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5 Kritik </a:t>
            </a:r>
            <a:r>
              <a:rPr dirty="0" err="1"/>
              <a:t>Sınıf</a:t>
            </a:r>
            <a:r>
              <a:rPr dirty="0"/>
              <a:t> </a:t>
            </a:r>
            <a:r>
              <a:rPr dirty="0" err="1"/>
              <a:t>seçtik</a:t>
            </a:r>
            <a:r>
              <a:rPr dirty="0"/>
              <a:t>:</a:t>
            </a:r>
          </a:p>
          <a:p>
            <a:r>
              <a:rPr dirty="0"/>
              <a:t>1. </a:t>
            </a:r>
            <a:r>
              <a:rPr dirty="0" err="1"/>
              <a:t>AppointmentCreateSerializer</a:t>
            </a:r>
            <a:r>
              <a:rPr dirty="0"/>
              <a:t> - validate(): </a:t>
            </a:r>
            <a:r>
              <a:rPr dirty="0" err="1"/>
              <a:t>Randevu</a:t>
            </a:r>
            <a:r>
              <a:rPr dirty="0"/>
              <a:t> </a:t>
            </a:r>
            <a:r>
              <a:rPr dirty="0" err="1"/>
              <a:t>çakışması</a:t>
            </a:r>
            <a:r>
              <a:rPr dirty="0"/>
              <a:t> </a:t>
            </a:r>
            <a:r>
              <a:rPr dirty="0" err="1"/>
              <a:t>engelleme</a:t>
            </a:r>
            <a:r>
              <a:rPr dirty="0"/>
              <a:t>. Mock </a:t>
            </a:r>
            <a:r>
              <a:rPr dirty="0" err="1"/>
              <a:t>kullanmıyor</a:t>
            </a:r>
            <a:r>
              <a:rPr dirty="0"/>
              <a:t> </a:t>
            </a:r>
            <a:r>
              <a:rPr dirty="0" err="1"/>
              <a:t>çünkü</a:t>
            </a:r>
            <a:r>
              <a:rPr dirty="0"/>
              <a:t> </a:t>
            </a:r>
            <a:r>
              <a:rPr dirty="0" err="1"/>
              <a:t>doğrudan</a:t>
            </a:r>
            <a:r>
              <a:rPr dirty="0"/>
              <a:t> Django ORM </a:t>
            </a:r>
            <a:r>
              <a:rPr dirty="0" err="1"/>
              <a:t>ile</a:t>
            </a:r>
            <a:r>
              <a:rPr dirty="0"/>
              <a:t> test </a:t>
            </a:r>
            <a:r>
              <a:rPr dirty="0" err="1"/>
              <a:t>ediyor</a:t>
            </a:r>
            <a:r>
              <a:rPr dirty="0"/>
              <a:t>.</a:t>
            </a:r>
          </a:p>
          <a:p>
            <a:r>
              <a:rPr dirty="0"/>
              <a:t>2. </a:t>
            </a:r>
            <a:r>
              <a:rPr dirty="0" err="1"/>
              <a:t>HeaderTenantMiddleware</a:t>
            </a:r>
            <a:r>
              <a:rPr dirty="0"/>
              <a:t> - __call__(): </a:t>
            </a:r>
            <a:r>
              <a:rPr dirty="0" err="1"/>
              <a:t>Kiracı</a:t>
            </a:r>
            <a:r>
              <a:rPr dirty="0"/>
              <a:t> </a:t>
            </a:r>
            <a:r>
              <a:rPr dirty="0" err="1"/>
              <a:t>çözümleme</a:t>
            </a:r>
            <a:r>
              <a:rPr dirty="0"/>
              <a:t>. Mock </a:t>
            </a:r>
            <a:r>
              <a:rPr dirty="0" err="1"/>
              <a:t>kullanıyor</a:t>
            </a:r>
            <a:r>
              <a:rPr dirty="0"/>
              <a:t> </a:t>
            </a:r>
            <a:r>
              <a:rPr dirty="0" err="1"/>
              <a:t>çünkü</a:t>
            </a:r>
            <a:r>
              <a:rPr dirty="0"/>
              <a:t> </a:t>
            </a:r>
            <a:r>
              <a:rPr dirty="0" err="1"/>
              <a:t>gerçek</a:t>
            </a:r>
            <a:r>
              <a:rPr dirty="0"/>
              <a:t> PostgreSQL </a:t>
            </a:r>
            <a:r>
              <a:rPr dirty="0" err="1"/>
              <a:t>şema</a:t>
            </a:r>
            <a:r>
              <a:rPr dirty="0"/>
              <a:t> </a:t>
            </a:r>
            <a:r>
              <a:rPr dirty="0" err="1"/>
              <a:t>işlemlerini</a:t>
            </a:r>
            <a:r>
              <a:rPr dirty="0"/>
              <a:t> </a:t>
            </a:r>
            <a:r>
              <a:rPr dirty="0" err="1"/>
              <a:t>taklit</a:t>
            </a:r>
            <a:r>
              <a:rPr dirty="0"/>
              <a:t> </a:t>
            </a:r>
            <a:r>
              <a:rPr dirty="0" err="1"/>
              <a:t>ediyoruz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RegisterClinicView</a:t>
            </a:r>
            <a:r>
              <a:rPr dirty="0"/>
              <a:t> / </a:t>
            </a:r>
            <a:r>
              <a:rPr dirty="0" err="1"/>
              <a:t>CheckDomainView</a:t>
            </a:r>
            <a:r>
              <a:rPr dirty="0"/>
              <a:t>: Yeni </a:t>
            </a:r>
            <a:r>
              <a:rPr dirty="0" err="1"/>
              <a:t>klinik</a:t>
            </a:r>
            <a:r>
              <a:rPr dirty="0"/>
              <a:t> </a:t>
            </a:r>
            <a:r>
              <a:rPr dirty="0" err="1"/>
              <a:t>kayıt</a:t>
            </a:r>
            <a:r>
              <a:rPr dirty="0"/>
              <a:t> </a:t>
            </a:r>
            <a:r>
              <a:rPr dirty="0" err="1"/>
              <a:t>akışı</a:t>
            </a:r>
            <a:r>
              <a:rPr dirty="0"/>
              <a:t>. Mock </a:t>
            </a:r>
            <a:r>
              <a:rPr dirty="0" err="1"/>
              <a:t>kullanıyor</a:t>
            </a:r>
            <a:r>
              <a:rPr dirty="0"/>
              <a:t>.</a:t>
            </a:r>
          </a:p>
          <a:p>
            <a:r>
              <a:rPr dirty="0"/>
              <a:t>4. </a:t>
            </a:r>
            <a:r>
              <a:rPr dirty="0" err="1"/>
              <a:t>PatientSerializer</a:t>
            </a:r>
            <a:r>
              <a:rPr dirty="0"/>
              <a:t> - create/update: Hasta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anamnez</a:t>
            </a:r>
            <a:r>
              <a:rPr dirty="0"/>
              <a:t> </a:t>
            </a:r>
            <a:r>
              <a:rPr dirty="0" err="1"/>
              <a:t>kaydı</a:t>
            </a:r>
            <a:r>
              <a:rPr dirty="0"/>
              <a:t>. Mock yok.</a:t>
            </a:r>
          </a:p>
          <a:p>
            <a:r>
              <a:rPr dirty="0"/>
              <a:t>5. </a:t>
            </a:r>
            <a:r>
              <a:rPr dirty="0" err="1"/>
              <a:t>TreatmentSerializer</a:t>
            </a:r>
            <a:r>
              <a:rPr dirty="0"/>
              <a:t> - validate(): </a:t>
            </a:r>
            <a:r>
              <a:rPr dirty="0" err="1"/>
              <a:t>Mükerrer</a:t>
            </a:r>
            <a:r>
              <a:rPr dirty="0"/>
              <a:t> </a:t>
            </a:r>
            <a:r>
              <a:rPr dirty="0" err="1"/>
              <a:t>tedavi</a:t>
            </a:r>
            <a:r>
              <a:rPr dirty="0"/>
              <a:t> </a:t>
            </a:r>
            <a:r>
              <a:rPr dirty="0" err="1"/>
              <a:t>engelleme</a:t>
            </a:r>
            <a:r>
              <a:rPr dirty="0"/>
              <a:t>. Mock yok.</a:t>
            </a:r>
          </a:p>
          <a:p>
            <a:endParaRPr dirty="0"/>
          </a:p>
          <a:p>
            <a:r>
              <a:rPr dirty="0"/>
              <a:t>Test </a:t>
            </a:r>
            <a:r>
              <a:rPr dirty="0" err="1"/>
              <a:t>Metodolojisi</a:t>
            </a:r>
            <a:r>
              <a:rPr dirty="0"/>
              <a:t>: Her </a:t>
            </a:r>
            <a:r>
              <a:rPr dirty="0" err="1"/>
              <a:t>metot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Pozitif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Negatif</a:t>
            </a:r>
            <a:r>
              <a:rPr dirty="0"/>
              <a:t> </a:t>
            </a:r>
            <a:r>
              <a:rPr dirty="0" err="1"/>
              <a:t>senaryo</a:t>
            </a:r>
            <a:r>
              <a:rPr dirty="0"/>
              <a:t>. </a:t>
            </a:r>
            <a:r>
              <a:rPr dirty="0" err="1"/>
              <a:t>Negatif</a:t>
            </a:r>
            <a:r>
              <a:rPr dirty="0"/>
              <a:t> </a:t>
            </a:r>
            <a:r>
              <a:rPr dirty="0" err="1"/>
              <a:t>senaryoda</a:t>
            </a:r>
            <a:r>
              <a:rPr dirty="0"/>
              <a:t> </a:t>
            </a:r>
            <a:r>
              <a:rPr dirty="0" err="1"/>
              <a:t>kodun</a:t>
            </a:r>
            <a:r>
              <a:rPr dirty="0"/>
              <a:t> </a:t>
            </a:r>
            <a:r>
              <a:rPr dirty="0" err="1"/>
              <a:t>hatayı</a:t>
            </a:r>
            <a:r>
              <a:rPr dirty="0"/>
              <a:t> </a:t>
            </a:r>
            <a:r>
              <a:rPr dirty="0" err="1"/>
              <a:t>reddetmesi</a:t>
            </a:r>
            <a:r>
              <a:rPr dirty="0"/>
              <a:t> PASSED </a:t>
            </a:r>
            <a:r>
              <a:rPr dirty="0" err="1"/>
              <a:t>sayılır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Test </a:t>
            </a:r>
            <a:r>
              <a:rPr dirty="0" err="1"/>
              <a:t>koşum</a:t>
            </a:r>
            <a:r>
              <a:rPr dirty="0"/>
              <a:t> </a:t>
            </a:r>
            <a:r>
              <a:rPr dirty="0" err="1"/>
              <a:t>komutu</a:t>
            </a:r>
            <a:r>
              <a:rPr dirty="0"/>
              <a:t>: </a:t>
            </a:r>
            <a:r>
              <a:rPr dirty="0" err="1"/>
              <a:t>pytest</a:t>
            </a:r>
            <a:r>
              <a:rPr dirty="0"/>
              <a:t> test_serializers.py test_middleware.py test_register.py → 54 passed.</a:t>
            </a:r>
          </a:p>
          <a:p>
            <a:endParaRPr dirty="0"/>
          </a:p>
          <a:p>
            <a:r>
              <a:rPr dirty="0" err="1"/>
              <a:t>Tabloda</a:t>
            </a:r>
            <a:r>
              <a:rPr dirty="0"/>
              <a:t> 8 </a:t>
            </a:r>
            <a:r>
              <a:rPr dirty="0" err="1"/>
              <a:t>temsili</a:t>
            </a:r>
            <a:r>
              <a:rPr dirty="0"/>
              <a:t> </a:t>
            </a:r>
            <a:r>
              <a:rPr dirty="0" err="1"/>
              <a:t>senaryoyu</a:t>
            </a:r>
            <a:r>
              <a:rPr dirty="0"/>
              <a:t> </a:t>
            </a:r>
            <a:r>
              <a:rPr dirty="0" err="1"/>
              <a:t>görüyorsunuz</a:t>
            </a:r>
            <a:r>
              <a:rPr dirty="0"/>
              <a:t>. </a:t>
            </a:r>
            <a:r>
              <a:rPr dirty="0" err="1"/>
              <a:t>Tamamını</a:t>
            </a:r>
            <a:r>
              <a:rPr dirty="0"/>
              <a:t> </a:t>
            </a:r>
            <a:r>
              <a:rPr dirty="0" err="1"/>
              <a:t>açıklayalım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UT-001: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hekime</a:t>
            </a:r>
            <a:r>
              <a:rPr dirty="0"/>
              <a:t>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tarih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saatte</a:t>
            </a:r>
            <a:r>
              <a:rPr dirty="0"/>
              <a:t> </a:t>
            </a:r>
            <a:r>
              <a:rPr dirty="0" err="1"/>
              <a:t>ikinci</a:t>
            </a:r>
            <a:r>
              <a:rPr dirty="0"/>
              <a:t> </a:t>
            </a:r>
            <a:r>
              <a:rPr dirty="0" err="1"/>
              <a:t>randevu</a:t>
            </a:r>
            <a:r>
              <a:rPr dirty="0"/>
              <a:t> </a:t>
            </a:r>
            <a:r>
              <a:rPr dirty="0" err="1"/>
              <a:t>ekleniyor</a:t>
            </a:r>
            <a:r>
              <a:rPr dirty="0"/>
              <a:t> → </a:t>
            </a:r>
            <a:r>
              <a:rPr dirty="0" err="1"/>
              <a:t>ValidationError</a:t>
            </a:r>
            <a:r>
              <a:rPr dirty="0"/>
              <a:t> </a:t>
            </a:r>
            <a:r>
              <a:rPr dirty="0" err="1"/>
              <a:t>fırlatılıyor</a:t>
            </a:r>
            <a:r>
              <a:rPr dirty="0"/>
              <a:t> → PASSED. Bu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kritik</a:t>
            </a:r>
            <a:r>
              <a:rPr dirty="0"/>
              <a:t> </a:t>
            </a:r>
            <a:r>
              <a:rPr dirty="0" err="1"/>
              <a:t>testimiz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UT-003: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hekime</a:t>
            </a:r>
            <a:r>
              <a:rPr dirty="0"/>
              <a:t> ama FARKLI </a:t>
            </a:r>
            <a:r>
              <a:rPr dirty="0" err="1"/>
              <a:t>saatte</a:t>
            </a:r>
            <a:r>
              <a:rPr dirty="0"/>
              <a:t> </a:t>
            </a:r>
            <a:r>
              <a:rPr dirty="0" err="1"/>
              <a:t>randevu</a:t>
            </a:r>
            <a:r>
              <a:rPr dirty="0"/>
              <a:t> → Kabul </a:t>
            </a:r>
            <a:r>
              <a:rPr dirty="0" err="1"/>
              <a:t>ediliyor</a:t>
            </a:r>
            <a:r>
              <a:rPr dirty="0"/>
              <a:t> → PASSED. </a:t>
            </a:r>
            <a:r>
              <a:rPr dirty="0" err="1"/>
              <a:t>Çakışma</a:t>
            </a:r>
            <a:r>
              <a:rPr dirty="0"/>
              <a:t> </a:t>
            </a:r>
            <a:r>
              <a:rPr dirty="0" err="1"/>
              <a:t>algoritmasının</a:t>
            </a:r>
            <a:r>
              <a:rPr dirty="0"/>
              <a:t> </a:t>
            </a:r>
            <a:r>
              <a:rPr dirty="0" err="1"/>
              <a:t>doğru</a:t>
            </a:r>
            <a:r>
              <a:rPr dirty="0"/>
              <a:t> </a:t>
            </a:r>
            <a:r>
              <a:rPr dirty="0" err="1"/>
              <a:t>çalıştığını</a:t>
            </a:r>
            <a:r>
              <a:rPr dirty="0"/>
              <a:t> </a:t>
            </a:r>
            <a:r>
              <a:rPr dirty="0" err="1"/>
              <a:t>doğrular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UT-006: X-Tenant header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gelen</a:t>
            </a:r>
            <a:r>
              <a:rPr dirty="0"/>
              <a:t> </a:t>
            </a:r>
            <a:r>
              <a:rPr dirty="0" err="1"/>
              <a:t>istekte</a:t>
            </a:r>
            <a:r>
              <a:rPr dirty="0"/>
              <a:t> </a:t>
            </a:r>
            <a:r>
              <a:rPr dirty="0" err="1"/>
              <a:t>doğru</a:t>
            </a:r>
            <a:r>
              <a:rPr dirty="0"/>
              <a:t> </a:t>
            </a:r>
            <a:r>
              <a:rPr dirty="0" err="1"/>
              <a:t>kiracıya</a:t>
            </a:r>
            <a:r>
              <a:rPr dirty="0"/>
              <a:t> </a:t>
            </a:r>
            <a:r>
              <a:rPr dirty="0" err="1"/>
              <a:t>yönlendirme</a:t>
            </a:r>
            <a:r>
              <a:rPr dirty="0"/>
              <a:t> → Mock </a:t>
            </a:r>
            <a:r>
              <a:rPr dirty="0" err="1"/>
              <a:t>ile</a:t>
            </a:r>
            <a:r>
              <a:rPr dirty="0"/>
              <a:t> test → PASSED.</a:t>
            </a:r>
          </a:p>
          <a:p>
            <a:endParaRPr dirty="0"/>
          </a:p>
          <a:p>
            <a:r>
              <a:rPr dirty="0"/>
              <a:t>UT-011: Public tenant </a:t>
            </a:r>
            <a:r>
              <a:rPr dirty="0" err="1"/>
              <a:t>tanımsızken</a:t>
            </a:r>
            <a:r>
              <a:rPr dirty="0"/>
              <a:t> </a:t>
            </a:r>
            <a:r>
              <a:rPr dirty="0" err="1"/>
              <a:t>hiçbir</a:t>
            </a:r>
            <a:r>
              <a:rPr dirty="0"/>
              <a:t> </a:t>
            </a:r>
            <a:r>
              <a:rPr dirty="0" err="1"/>
              <a:t>eşleşme</a:t>
            </a:r>
            <a:r>
              <a:rPr dirty="0"/>
              <a:t> </a:t>
            </a:r>
            <a:r>
              <a:rPr dirty="0" err="1"/>
              <a:t>olmaması</a:t>
            </a:r>
            <a:r>
              <a:rPr dirty="0"/>
              <a:t> → 500 </a:t>
            </a:r>
            <a:r>
              <a:rPr dirty="0" err="1"/>
              <a:t>döndürmeli</a:t>
            </a:r>
            <a:r>
              <a:rPr dirty="0"/>
              <a:t> → PASSED.</a:t>
            </a:r>
          </a:p>
          <a:p>
            <a:endParaRPr dirty="0"/>
          </a:p>
          <a:p>
            <a:r>
              <a:rPr dirty="0"/>
              <a:t>UT-014: </a:t>
            </a:r>
            <a:r>
              <a:rPr dirty="0" err="1"/>
              <a:t>Zorunlu</a:t>
            </a:r>
            <a:r>
              <a:rPr dirty="0"/>
              <a:t> </a:t>
            </a:r>
            <a:r>
              <a:rPr dirty="0" err="1"/>
              <a:t>alan</a:t>
            </a:r>
            <a:r>
              <a:rPr dirty="0"/>
              <a:t> </a:t>
            </a:r>
            <a:r>
              <a:rPr dirty="0" err="1"/>
              <a:t>eksik</a:t>
            </a:r>
            <a:r>
              <a:rPr dirty="0"/>
              <a:t> </a:t>
            </a:r>
            <a:r>
              <a:rPr dirty="0" err="1"/>
              <a:t>gönderildiğinde</a:t>
            </a:r>
            <a:r>
              <a:rPr dirty="0"/>
              <a:t> 400 </a:t>
            </a:r>
            <a:r>
              <a:rPr dirty="0" err="1"/>
              <a:t>hatası</a:t>
            </a:r>
            <a:r>
              <a:rPr dirty="0"/>
              <a:t> → PASSED.</a:t>
            </a:r>
          </a:p>
          <a:p>
            <a:endParaRPr dirty="0"/>
          </a:p>
          <a:p>
            <a:r>
              <a:rPr dirty="0"/>
              <a:t>UT-022: </a:t>
            </a:r>
            <a:r>
              <a:rPr dirty="0" err="1"/>
              <a:t>Telefon</a:t>
            </a:r>
            <a:r>
              <a:rPr dirty="0"/>
              <a:t> </a:t>
            </a:r>
            <a:r>
              <a:rPr dirty="0" err="1"/>
              <a:t>olmadan</a:t>
            </a:r>
            <a:r>
              <a:rPr dirty="0"/>
              <a:t> hasta </a:t>
            </a:r>
            <a:r>
              <a:rPr dirty="0" err="1"/>
              <a:t>kaydı</a:t>
            </a:r>
            <a:r>
              <a:rPr dirty="0"/>
              <a:t> → </a:t>
            </a:r>
            <a:r>
              <a:rPr dirty="0" err="1"/>
              <a:t>is_valid</a:t>
            </a:r>
            <a:r>
              <a:rPr dirty="0"/>
              <a:t> = False, phone </a:t>
            </a:r>
            <a:r>
              <a:rPr dirty="0" err="1"/>
              <a:t>hatası</a:t>
            </a:r>
            <a:r>
              <a:rPr dirty="0"/>
              <a:t> → PASSED.</a:t>
            </a:r>
          </a:p>
          <a:p>
            <a:endParaRPr dirty="0"/>
          </a:p>
          <a:p>
            <a:r>
              <a:rPr dirty="0"/>
              <a:t>UT-025: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gün</a:t>
            </a:r>
            <a:r>
              <a:rPr dirty="0"/>
              <a:t>,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diş</a:t>
            </a:r>
            <a:r>
              <a:rPr dirty="0"/>
              <a:t>,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tedavi</a:t>
            </a:r>
            <a:r>
              <a:rPr dirty="0"/>
              <a:t> </a:t>
            </a:r>
            <a:r>
              <a:rPr dirty="0" err="1"/>
              <a:t>türü</a:t>
            </a:r>
            <a:r>
              <a:rPr dirty="0"/>
              <a:t> </a:t>
            </a:r>
            <a:r>
              <a:rPr dirty="0" err="1"/>
              <a:t>mükerrer</a:t>
            </a:r>
            <a:r>
              <a:rPr dirty="0"/>
              <a:t> </a:t>
            </a:r>
            <a:r>
              <a:rPr dirty="0" err="1"/>
              <a:t>eklenmesi</a:t>
            </a:r>
            <a:r>
              <a:rPr dirty="0"/>
              <a:t> → </a:t>
            </a:r>
            <a:r>
              <a:rPr dirty="0" err="1"/>
              <a:t>ValidationError</a:t>
            </a:r>
            <a:r>
              <a:rPr dirty="0"/>
              <a:t> → PASSED.</a:t>
            </a:r>
          </a:p>
          <a:p>
            <a:endParaRPr dirty="0"/>
          </a:p>
          <a:p>
            <a:r>
              <a:rPr dirty="0" err="1"/>
              <a:t>Toplam</a:t>
            </a:r>
            <a:r>
              <a:rPr dirty="0"/>
              <a:t>: 25 </a:t>
            </a:r>
            <a:r>
              <a:rPr dirty="0" err="1"/>
              <a:t>temsili</a:t>
            </a:r>
            <a:r>
              <a:rPr dirty="0"/>
              <a:t> </a:t>
            </a:r>
            <a:r>
              <a:rPr dirty="0" err="1"/>
              <a:t>senaryo</a:t>
            </a:r>
            <a:r>
              <a:rPr dirty="0"/>
              <a:t> (13 </a:t>
            </a:r>
            <a:r>
              <a:rPr dirty="0" err="1"/>
              <a:t>Pozitif</a:t>
            </a:r>
            <a:r>
              <a:rPr dirty="0"/>
              <a:t> + 12 </a:t>
            </a:r>
            <a:r>
              <a:rPr dirty="0" err="1"/>
              <a:t>Negatif</a:t>
            </a:r>
            <a:r>
              <a:rPr dirty="0"/>
              <a:t>), TÜMÜ PASSED.</a:t>
            </a:r>
          </a:p>
          <a:p>
            <a:r>
              <a:rPr dirty="0"/>
              <a:t>3 test </a:t>
            </a:r>
            <a:r>
              <a:rPr dirty="0" err="1"/>
              <a:t>dosyasının</a:t>
            </a:r>
            <a:r>
              <a:rPr dirty="0"/>
              <a:t> tam </a:t>
            </a:r>
            <a:r>
              <a:rPr dirty="0" err="1"/>
              <a:t>koşumu</a:t>
            </a:r>
            <a:r>
              <a:rPr dirty="0"/>
              <a:t>: 54 / 54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Dersin</a:t>
            </a:r>
            <a:r>
              <a:rPr dirty="0"/>
              <a:t> </a:t>
            </a:r>
            <a:r>
              <a:rPr dirty="0" err="1"/>
              <a:t>Bakım</a:t>
            </a:r>
            <a:r>
              <a:rPr dirty="0"/>
              <a:t> </a:t>
            </a:r>
            <a:r>
              <a:rPr dirty="0" err="1"/>
              <a:t>ayağına</a:t>
            </a:r>
            <a:r>
              <a:rPr dirty="0"/>
              <a:t> </a:t>
            </a:r>
            <a:r>
              <a:rPr dirty="0" err="1"/>
              <a:t>uygun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3 </a:t>
            </a:r>
            <a:r>
              <a:rPr dirty="0" err="1"/>
              <a:t>kategoride</a:t>
            </a:r>
            <a:r>
              <a:rPr dirty="0"/>
              <a:t> </a:t>
            </a:r>
            <a:r>
              <a:rPr dirty="0" err="1"/>
              <a:t>gelecek</a:t>
            </a:r>
            <a:r>
              <a:rPr dirty="0"/>
              <a:t> </a:t>
            </a:r>
            <a:r>
              <a:rPr dirty="0" err="1"/>
              <a:t>planlarımızı</a:t>
            </a:r>
            <a:r>
              <a:rPr dirty="0"/>
              <a:t> </a:t>
            </a:r>
            <a:r>
              <a:rPr dirty="0" err="1"/>
              <a:t>sunduk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Refactoring </a:t>
            </a:r>
            <a:r>
              <a:rPr dirty="0" err="1"/>
              <a:t>İhtiyaçları</a:t>
            </a:r>
            <a:r>
              <a:rPr dirty="0"/>
              <a:t>:</a:t>
            </a:r>
          </a:p>
          <a:p>
            <a:r>
              <a:rPr dirty="0"/>
              <a:t>1. Servis </a:t>
            </a:r>
            <a:r>
              <a:rPr dirty="0" err="1"/>
              <a:t>Katmanı</a:t>
            </a:r>
            <a:r>
              <a:rPr dirty="0"/>
              <a:t> </a:t>
            </a:r>
            <a:r>
              <a:rPr dirty="0" err="1"/>
              <a:t>ayrımı</a:t>
            </a:r>
            <a:r>
              <a:rPr dirty="0"/>
              <a:t>: </a:t>
            </a:r>
            <a:r>
              <a:rPr dirty="0" err="1"/>
              <a:t>Şu</a:t>
            </a:r>
            <a:r>
              <a:rPr dirty="0"/>
              <a:t> an </a:t>
            </a:r>
            <a:r>
              <a:rPr dirty="0" err="1"/>
              <a:t>iş</a:t>
            </a:r>
            <a:r>
              <a:rPr dirty="0"/>
              <a:t> </a:t>
            </a:r>
            <a:r>
              <a:rPr dirty="0" err="1"/>
              <a:t>kuralları</a:t>
            </a:r>
            <a:r>
              <a:rPr dirty="0"/>
              <a:t> </a:t>
            </a:r>
            <a:r>
              <a:rPr dirty="0" err="1"/>
              <a:t>ViewSet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Serializer </a:t>
            </a:r>
            <a:r>
              <a:rPr dirty="0" err="1"/>
              <a:t>içinde</a:t>
            </a:r>
            <a:r>
              <a:rPr dirty="0"/>
              <a:t>. </a:t>
            </a:r>
            <a:r>
              <a:rPr dirty="0" err="1"/>
              <a:t>Bunları</a:t>
            </a:r>
            <a:r>
              <a:rPr dirty="0"/>
              <a:t> </a:t>
            </a:r>
            <a:r>
              <a:rPr dirty="0" err="1"/>
              <a:t>bağımsız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Service </a:t>
            </a:r>
            <a:r>
              <a:rPr dirty="0" err="1"/>
              <a:t>Layer'a</a:t>
            </a:r>
            <a:r>
              <a:rPr dirty="0"/>
              <a:t> </a:t>
            </a:r>
            <a:r>
              <a:rPr dirty="0" err="1"/>
              <a:t>taşımak</a:t>
            </a:r>
            <a:r>
              <a:rPr dirty="0"/>
              <a:t> </a:t>
            </a:r>
            <a:r>
              <a:rPr dirty="0" err="1"/>
              <a:t>bakım</a:t>
            </a:r>
            <a:r>
              <a:rPr dirty="0"/>
              <a:t> </a:t>
            </a:r>
            <a:r>
              <a:rPr dirty="0" err="1"/>
              <a:t>maliyetini</a:t>
            </a:r>
            <a:r>
              <a:rPr dirty="0"/>
              <a:t> </a:t>
            </a:r>
            <a:r>
              <a:rPr dirty="0" err="1"/>
              <a:t>düşürecek</a:t>
            </a:r>
            <a:r>
              <a:rPr dirty="0"/>
              <a:t>.</a:t>
            </a:r>
          </a:p>
          <a:p>
            <a:r>
              <a:rPr dirty="0"/>
              <a:t>2. Test </a:t>
            </a:r>
            <a:r>
              <a:rPr dirty="0" err="1"/>
              <a:t>kapsamı</a:t>
            </a:r>
            <a:r>
              <a:rPr dirty="0"/>
              <a:t> </a:t>
            </a:r>
            <a:r>
              <a:rPr dirty="0" err="1"/>
              <a:t>genişletme</a:t>
            </a:r>
            <a:r>
              <a:rPr dirty="0"/>
              <a:t>: </a:t>
            </a:r>
            <a:r>
              <a:rPr dirty="0" err="1"/>
              <a:t>Birim</a:t>
            </a:r>
            <a:r>
              <a:rPr dirty="0"/>
              <a:t> </a:t>
            </a:r>
            <a:r>
              <a:rPr dirty="0" err="1"/>
              <a:t>testlerin</a:t>
            </a:r>
            <a:r>
              <a:rPr dirty="0"/>
              <a:t> </a:t>
            </a:r>
            <a:r>
              <a:rPr dirty="0" err="1"/>
              <a:t>yanına</a:t>
            </a:r>
            <a:r>
              <a:rPr dirty="0"/>
              <a:t> </a:t>
            </a:r>
            <a:r>
              <a:rPr dirty="0" err="1"/>
              <a:t>entegrasyon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E2E </a:t>
            </a:r>
            <a:r>
              <a:rPr dirty="0" err="1"/>
              <a:t>testleri</a:t>
            </a:r>
            <a:r>
              <a:rPr dirty="0"/>
              <a:t> </a:t>
            </a:r>
            <a:r>
              <a:rPr dirty="0" err="1"/>
              <a:t>eklenecek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Merkezi</a:t>
            </a:r>
            <a:r>
              <a:rPr dirty="0"/>
              <a:t> </a:t>
            </a:r>
            <a:r>
              <a:rPr dirty="0" err="1"/>
              <a:t>hata</a:t>
            </a:r>
            <a:r>
              <a:rPr dirty="0"/>
              <a:t> </a:t>
            </a:r>
            <a:r>
              <a:rPr dirty="0" err="1"/>
              <a:t>yönetimi</a:t>
            </a:r>
            <a:r>
              <a:rPr dirty="0"/>
              <a:t>: RFC 7807 Problem Details </a:t>
            </a:r>
            <a:r>
              <a:rPr dirty="0" err="1"/>
              <a:t>formatında</a:t>
            </a:r>
            <a:r>
              <a:rPr dirty="0"/>
              <a:t> </a:t>
            </a:r>
            <a:r>
              <a:rPr dirty="0" err="1"/>
              <a:t>standart</a:t>
            </a:r>
            <a:r>
              <a:rPr dirty="0"/>
              <a:t> </a:t>
            </a:r>
            <a:r>
              <a:rPr dirty="0" err="1"/>
              <a:t>hata</a:t>
            </a:r>
            <a:r>
              <a:rPr dirty="0"/>
              <a:t> </a:t>
            </a:r>
            <a:r>
              <a:rPr dirty="0" err="1"/>
              <a:t>yanıtları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Yeni </a:t>
            </a:r>
            <a:r>
              <a:rPr dirty="0" err="1"/>
              <a:t>Özellik</a:t>
            </a:r>
            <a:r>
              <a:rPr dirty="0"/>
              <a:t> </a:t>
            </a:r>
            <a:r>
              <a:rPr dirty="0" err="1"/>
              <a:t>Önerileri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Gerçek</a:t>
            </a:r>
            <a:r>
              <a:rPr dirty="0"/>
              <a:t> SMS/WhatsApp </a:t>
            </a:r>
            <a:r>
              <a:rPr dirty="0" err="1"/>
              <a:t>entegrasyonu</a:t>
            </a:r>
            <a:endParaRPr dirty="0"/>
          </a:p>
          <a:p>
            <a:r>
              <a:rPr dirty="0"/>
              <a:t>- </a:t>
            </a:r>
            <a:r>
              <a:rPr dirty="0" err="1"/>
              <a:t>Takvimde</a:t>
            </a:r>
            <a:r>
              <a:rPr dirty="0"/>
              <a:t> </a:t>
            </a:r>
            <a:r>
              <a:rPr dirty="0" err="1"/>
              <a:t>sürükle-bırak</a:t>
            </a:r>
            <a:endParaRPr dirty="0"/>
          </a:p>
          <a:p>
            <a:r>
              <a:rPr dirty="0"/>
              <a:t>- </a:t>
            </a:r>
            <a:r>
              <a:rPr dirty="0" err="1"/>
              <a:t>Dijital</a:t>
            </a:r>
            <a:r>
              <a:rPr dirty="0"/>
              <a:t> </a:t>
            </a:r>
            <a:r>
              <a:rPr dirty="0" err="1"/>
              <a:t>röntgen</a:t>
            </a:r>
            <a:r>
              <a:rPr dirty="0"/>
              <a:t> </a:t>
            </a:r>
            <a:r>
              <a:rPr dirty="0" err="1"/>
              <a:t>dosyaları</a:t>
            </a:r>
            <a:endParaRPr dirty="0"/>
          </a:p>
          <a:p>
            <a:r>
              <a:rPr dirty="0"/>
              <a:t>- </a:t>
            </a:r>
            <a:r>
              <a:rPr dirty="0" err="1"/>
              <a:t>Raporlama</a:t>
            </a:r>
            <a:r>
              <a:rPr dirty="0"/>
              <a:t> </a:t>
            </a:r>
            <a:r>
              <a:rPr dirty="0" err="1"/>
              <a:t>modülü</a:t>
            </a:r>
            <a:endParaRPr dirty="0"/>
          </a:p>
          <a:p>
            <a:r>
              <a:rPr dirty="0"/>
              <a:t>- Mobil </a:t>
            </a:r>
            <a:r>
              <a:rPr dirty="0" err="1"/>
              <a:t>uygulama</a:t>
            </a:r>
            <a:r>
              <a:rPr dirty="0"/>
              <a:t> (React Native)</a:t>
            </a:r>
          </a:p>
          <a:p>
            <a:r>
              <a:rPr dirty="0"/>
              <a:t>-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dilli</a:t>
            </a:r>
            <a:r>
              <a:rPr dirty="0"/>
              <a:t> </a:t>
            </a:r>
            <a:r>
              <a:rPr dirty="0" err="1"/>
              <a:t>destek</a:t>
            </a:r>
            <a:endParaRPr dirty="0"/>
          </a:p>
          <a:p>
            <a:endParaRPr dirty="0"/>
          </a:p>
          <a:p>
            <a:r>
              <a:rPr dirty="0" err="1"/>
              <a:t>Versiyon</a:t>
            </a:r>
            <a:r>
              <a:rPr dirty="0"/>
              <a:t> </a:t>
            </a:r>
            <a:r>
              <a:rPr dirty="0" err="1"/>
              <a:t>Güncelleme</a:t>
            </a:r>
            <a:r>
              <a:rPr dirty="0"/>
              <a:t> </a:t>
            </a:r>
            <a:r>
              <a:rPr dirty="0" err="1"/>
              <a:t>Planı</a:t>
            </a:r>
            <a:r>
              <a:rPr dirty="0"/>
              <a:t>:</a:t>
            </a:r>
          </a:p>
          <a:p>
            <a:r>
              <a:rPr dirty="0"/>
              <a:t>v1.1 (2025 Q3): SMS + </a:t>
            </a:r>
            <a:r>
              <a:rPr dirty="0" err="1"/>
              <a:t>takvim</a:t>
            </a:r>
            <a:r>
              <a:rPr dirty="0"/>
              <a:t> </a:t>
            </a:r>
            <a:r>
              <a:rPr dirty="0" err="1"/>
              <a:t>drag&amp;drop</a:t>
            </a:r>
            <a:endParaRPr dirty="0"/>
          </a:p>
          <a:p>
            <a:r>
              <a:rPr dirty="0"/>
              <a:t>v1.2 (2025 Q4): </a:t>
            </a:r>
            <a:r>
              <a:rPr dirty="0" err="1"/>
              <a:t>Raporlama</a:t>
            </a:r>
            <a:r>
              <a:rPr dirty="0"/>
              <a:t> + PDF </a:t>
            </a:r>
            <a:r>
              <a:rPr dirty="0" err="1"/>
              <a:t>çıktı</a:t>
            </a:r>
            <a:endParaRPr dirty="0"/>
          </a:p>
          <a:p>
            <a:r>
              <a:rPr dirty="0"/>
              <a:t>v2.0 (2026 Q1): Mobil +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dilli</a:t>
            </a:r>
            <a:endParaRPr dirty="0"/>
          </a:p>
          <a:p>
            <a:r>
              <a:rPr dirty="0"/>
              <a:t>v2.1 (2026 Q2): </a:t>
            </a:r>
            <a:r>
              <a:rPr dirty="0" err="1"/>
              <a:t>Röntgen</a:t>
            </a:r>
            <a:r>
              <a:rPr dirty="0"/>
              <a:t> + </a:t>
            </a:r>
            <a:r>
              <a:rPr dirty="0" err="1"/>
              <a:t>gelişmiş</a:t>
            </a:r>
            <a:r>
              <a:rPr dirty="0"/>
              <a:t> </a:t>
            </a:r>
            <a:r>
              <a:rPr dirty="0" err="1"/>
              <a:t>analitik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Sonuç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, </a:t>
            </a:r>
            <a:r>
              <a:rPr dirty="0" err="1"/>
              <a:t>Yaşca</a:t>
            </a:r>
            <a:r>
              <a:rPr dirty="0"/>
              <a:t> </a:t>
            </a:r>
            <a:r>
              <a:rPr dirty="0" err="1"/>
              <a:t>Diş</a:t>
            </a:r>
            <a:r>
              <a:rPr dirty="0"/>
              <a:t> </a:t>
            </a:r>
            <a:r>
              <a:rPr dirty="0" err="1"/>
              <a:t>Kliniği</a:t>
            </a:r>
            <a:r>
              <a:rPr dirty="0"/>
              <a:t> </a:t>
            </a:r>
            <a:r>
              <a:rPr dirty="0" err="1"/>
              <a:t>Yönetim</a:t>
            </a:r>
            <a:r>
              <a:rPr dirty="0"/>
              <a:t> </a:t>
            </a:r>
            <a:r>
              <a:rPr dirty="0" err="1"/>
              <a:t>Sistemi'ni</a:t>
            </a:r>
            <a:r>
              <a:rPr dirty="0"/>
              <a:t> </a:t>
            </a:r>
            <a:r>
              <a:rPr dirty="0" err="1"/>
              <a:t>yazılım</a:t>
            </a:r>
            <a:r>
              <a:rPr dirty="0"/>
              <a:t> </a:t>
            </a:r>
            <a:r>
              <a:rPr dirty="0" err="1"/>
              <a:t>yaşam</a:t>
            </a:r>
            <a:r>
              <a:rPr dirty="0"/>
              <a:t> </a:t>
            </a:r>
            <a:r>
              <a:rPr dirty="0" err="1"/>
              <a:t>döngüsünün</a:t>
            </a:r>
            <a:r>
              <a:rPr dirty="0"/>
              <a:t> </a:t>
            </a: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aşamalarını</a:t>
            </a:r>
            <a:r>
              <a:rPr dirty="0"/>
              <a:t> </a:t>
            </a:r>
            <a:r>
              <a:rPr dirty="0" err="1"/>
              <a:t>kapsayacak</a:t>
            </a:r>
            <a:r>
              <a:rPr dirty="0"/>
              <a:t> </a:t>
            </a:r>
            <a:r>
              <a:rPr dirty="0" err="1"/>
              <a:t>şekilde</a:t>
            </a:r>
            <a:r>
              <a:rPr dirty="0"/>
              <a:t> </a:t>
            </a:r>
            <a:r>
              <a:rPr dirty="0" err="1"/>
              <a:t>geliştirdik</a:t>
            </a:r>
            <a:r>
              <a:rPr dirty="0"/>
              <a:t>:</a:t>
            </a:r>
          </a:p>
          <a:p>
            <a:endParaRPr dirty="0"/>
          </a:p>
          <a:p>
            <a:r>
              <a:rPr dirty="0" err="1"/>
              <a:t>Adım</a:t>
            </a:r>
            <a:r>
              <a:rPr dirty="0"/>
              <a:t> 1'de 6 </a:t>
            </a:r>
            <a:r>
              <a:rPr dirty="0" err="1"/>
              <a:t>fonksiyonel</a:t>
            </a:r>
            <a:r>
              <a:rPr dirty="0"/>
              <a:t> </a:t>
            </a:r>
            <a:r>
              <a:rPr dirty="0" err="1"/>
              <a:t>gereksinimi</a:t>
            </a:r>
            <a:r>
              <a:rPr dirty="0"/>
              <a:t> UML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modelledik</a:t>
            </a:r>
            <a:r>
              <a:rPr dirty="0"/>
              <a:t> - 6 </a:t>
            </a:r>
            <a:r>
              <a:rPr dirty="0" err="1"/>
              <a:t>sekans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2 </a:t>
            </a:r>
            <a:r>
              <a:rPr dirty="0" err="1"/>
              <a:t>sınıf</a:t>
            </a:r>
            <a:r>
              <a:rPr dirty="0"/>
              <a:t> </a:t>
            </a:r>
            <a:r>
              <a:rPr dirty="0" err="1"/>
              <a:t>diyagramı</a:t>
            </a:r>
            <a:r>
              <a:rPr dirty="0"/>
              <a:t>.</a:t>
            </a:r>
          </a:p>
          <a:p>
            <a:r>
              <a:rPr dirty="0" err="1"/>
              <a:t>Adım</a:t>
            </a:r>
            <a:r>
              <a:rPr dirty="0"/>
              <a:t> 2'de DAR </a:t>
            </a:r>
            <a:r>
              <a:rPr dirty="0" err="1"/>
              <a:t>raporu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teknoloji</a:t>
            </a:r>
            <a:r>
              <a:rPr dirty="0"/>
              <a:t> </a:t>
            </a:r>
            <a:r>
              <a:rPr dirty="0" err="1"/>
              <a:t>yığınını</a:t>
            </a:r>
            <a:r>
              <a:rPr dirty="0"/>
              <a:t> </a:t>
            </a:r>
            <a:r>
              <a:rPr dirty="0" err="1"/>
              <a:t>karar</a:t>
            </a:r>
            <a:r>
              <a:rPr dirty="0"/>
              <a:t> </a:t>
            </a:r>
            <a:r>
              <a:rPr dirty="0" err="1"/>
              <a:t>matrisleriyle</a:t>
            </a:r>
            <a:r>
              <a:rPr dirty="0"/>
              <a:t> </a:t>
            </a:r>
            <a:r>
              <a:rPr dirty="0" err="1"/>
              <a:t>objektif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seçtik</a:t>
            </a:r>
            <a:r>
              <a:rPr dirty="0"/>
              <a:t>.</a:t>
            </a:r>
          </a:p>
          <a:p>
            <a:r>
              <a:rPr dirty="0" err="1"/>
              <a:t>Adım</a:t>
            </a:r>
            <a:r>
              <a:rPr dirty="0"/>
              <a:t> 3'te </a:t>
            </a:r>
            <a:r>
              <a:rPr dirty="0" err="1"/>
              <a:t>iç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dış</a:t>
            </a:r>
            <a:r>
              <a:rPr dirty="0"/>
              <a:t> </a:t>
            </a:r>
            <a:r>
              <a:rPr dirty="0" err="1"/>
              <a:t>arayüzleri</a:t>
            </a:r>
            <a:r>
              <a:rPr dirty="0"/>
              <a:t> Swagger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dokümante</a:t>
            </a:r>
            <a:r>
              <a:rPr dirty="0"/>
              <a:t> </a:t>
            </a:r>
            <a:r>
              <a:rPr dirty="0" err="1"/>
              <a:t>edip</a:t>
            </a:r>
            <a:r>
              <a:rPr dirty="0"/>
              <a:t> multi-tenant </a:t>
            </a:r>
            <a:r>
              <a:rPr dirty="0" err="1"/>
              <a:t>altyapıyı</a:t>
            </a:r>
            <a:r>
              <a:rPr dirty="0"/>
              <a:t> </a:t>
            </a:r>
            <a:r>
              <a:rPr dirty="0" err="1"/>
              <a:t>kodladık</a:t>
            </a:r>
            <a:r>
              <a:rPr dirty="0"/>
              <a:t>.</a:t>
            </a:r>
          </a:p>
          <a:p>
            <a:r>
              <a:rPr dirty="0" err="1"/>
              <a:t>Adım</a:t>
            </a:r>
            <a:r>
              <a:rPr dirty="0"/>
              <a:t> 4'te 5 </a:t>
            </a:r>
            <a:r>
              <a:rPr dirty="0" err="1"/>
              <a:t>kritik</a:t>
            </a:r>
            <a:r>
              <a:rPr dirty="0"/>
              <a:t> </a:t>
            </a:r>
            <a:r>
              <a:rPr dirty="0" err="1"/>
              <a:t>sınıfın</a:t>
            </a:r>
            <a:r>
              <a:rPr dirty="0"/>
              <a:t> </a:t>
            </a:r>
            <a:r>
              <a:rPr dirty="0" err="1"/>
              <a:t>birim</a:t>
            </a:r>
            <a:r>
              <a:rPr dirty="0"/>
              <a:t> </a:t>
            </a:r>
            <a:r>
              <a:rPr dirty="0" err="1"/>
              <a:t>testlerini</a:t>
            </a:r>
            <a:r>
              <a:rPr dirty="0"/>
              <a:t> hem </a:t>
            </a:r>
            <a:r>
              <a:rPr dirty="0" err="1"/>
              <a:t>pozitif</a:t>
            </a:r>
            <a:r>
              <a:rPr dirty="0"/>
              <a:t> hem </a:t>
            </a:r>
            <a:r>
              <a:rPr dirty="0" err="1"/>
              <a:t>negatif</a:t>
            </a:r>
            <a:r>
              <a:rPr dirty="0"/>
              <a:t> </a:t>
            </a:r>
            <a:r>
              <a:rPr dirty="0" err="1"/>
              <a:t>senaryolarla</a:t>
            </a:r>
            <a:r>
              <a:rPr dirty="0"/>
              <a:t> </a:t>
            </a:r>
            <a:r>
              <a:rPr dirty="0" err="1"/>
              <a:t>doğruladık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Sayılarla</a:t>
            </a:r>
            <a:r>
              <a:rPr dirty="0"/>
              <a:t> </a:t>
            </a:r>
            <a:r>
              <a:rPr dirty="0" err="1"/>
              <a:t>Yaşca</a:t>
            </a:r>
            <a:r>
              <a:rPr dirty="0"/>
              <a:t>:</a:t>
            </a:r>
          </a:p>
          <a:p>
            <a:r>
              <a:rPr dirty="0"/>
              <a:t>- 54/54 </a:t>
            </a:r>
            <a:r>
              <a:rPr dirty="0" err="1"/>
              <a:t>birim</a:t>
            </a:r>
            <a:r>
              <a:rPr dirty="0"/>
              <a:t> test PASSED</a:t>
            </a:r>
          </a:p>
          <a:p>
            <a:r>
              <a:rPr dirty="0"/>
              <a:t>- 6 </a:t>
            </a:r>
            <a:r>
              <a:rPr dirty="0" err="1"/>
              <a:t>fonksiyonel</a:t>
            </a:r>
            <a:r>
              <a:rPr dirty="0"/>
              <a:t> </a:t>
            </a:r>
            <a:r>
              <a:rPr dirty="0" err="1"/>
              <a:t>gereksinim</a:t>
            </a:r>
            <a:endParaRPr dirty="0"/>
          </a:p>
          <a:p>
            <a:r>
              <a:rPr dirty="0"/>
              <a:t>- 6 NFR + 3 </a:t>
            </a:r>
            <a:r>
              <a:rPr dirty="0" err="1"/>
              <a:t>karar</a:t>
            </a:r>
            <a:r>
              <a:rPr dirty="0"/>
              <a:t> </a:t>
            </a:r>
            <a:r>
              <a:rPr dirty="0" err="1"/>
              <a:t>matrisi</a:t>
            </a:r>
            <a:endParaRPr dirty="0"/>
          </a:p>
          <a:p>
            <a:r>
              <a:rPr dirty="0"/>
              <a:t>- 8 domain </a:t>
            </a:r>
            <a:r>
              <a:rPr dirty="0" err="1"/>
              <a:t>varlığı</a:t>
            </a:r>
            <a:endParaRPr dirty="0"/>
          </a:p>
          <a:p>
            <a:r>
              <a:rPr dirty="0"/>
              <a:t>- %0 </a:t>
            </a:r>
            <a:r>
              <a:rPr dirty="0" err="1"/>
              <a:t>kiracılar</a:t>
            </a:r>
            <a:r>
              <a:rPr dirty="0"/>
              <a:t> </a:t>
            </a:r>
            <a:r>
              <a:rPr dirty="0" err="1"/>
              <a:t>arası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sızıntısı</a:t>
            </a:r>
            <a:endParaRPr dirty="0"/>
          </a:p>
          <a:p>
            <a:endParaRPr dirty="0"/>
          </a:p>
          <a:p>
            <a:r>
              <a:rPr dirty="0"/>
              <a:t>Temel </a:t>
            </a:r>
            <a:r>
              <a:rPr dirty="0" err="1"/>
              <a:t>çıktılarımız</a:t>
            </a:r>
            <a:r>
              <a:rPr dirty="0"/>
              <a:t>: </a:t>
            </a:r>
            <a:r>
              <a:rPr dirty="0" err="1"/>
              <a:t>Uçtan</a:t>
            </a:r>
            <a:r>
              <a:rPr dirty="0"/>
              <a:t> </a:t>
            </a:r>
            <a:r>
              <a:rPr dirty="0" err="1"/>
              <a:t>uca</a:t>
            </a:r>
            <a:r>
              <a:rPr dirty="0"/>
              <a:t> test </a:t>
            </a:r>
            <a:r>
              <a:rPr dirty="0" err="1"/>
              <a:t>edilmiş</a:t>
            </a:r>
            <a:r>
              <a:rPr dirty="0"/>
              <a:t> </a:t>
            </a:r>
            <a:r>
              <a:rPr dirty="0" err="1"/>
              <a:t>modüller</a:t>
            </a:r>
            <a:r>
              <a:rPr dirty="0"/>
              <a:t>, </a:t>
            </a:r>
            <a:r>
              <a:rPr dirty="0" err="1"/>
              <a:t>standartlara</a:t>
            </a:r>
            <a:r>
              <a:rPr dirty="0"/>
              <a:t> </a:t>
            </a:r>
            <a:r>
              <a:rPr dirty="0" err="1"/>
              <a:t>uygun</a:t>
            </a:r>
            <a:r>
              <a:rPr dirty="0"/>
              <a:t> UML </a:t>
            </a:r>
            <a:r>
              <a:rPr dirty="0" err="1"/>
              <a:t>dokümantasyonu</a:t>
            </a:r>
            <a:r>
              <a:rPr dirty="0"/>
              <a:t>, </a:t>
            </a:r>
            <a:r>
              <a:rPr dirty="0" err="1"/>
              <a:t>teknik</a:t>
            </a:r>
            <a:r>
              <a:rPr dirty="0"/>
              <a:t> </a:t>
            </a:r>
            <a:r>
              <a:rPr dirty="0" err="1"/>
              <a:t>karar</a:t>
            </a:r>
            <a:r>
              <a:rPr dirty="0"/>
              <a:t> </a:t>
            </a:r>
            <a:r>
              <a:rPr dirty="0" err="1"/>
              <a:t>verme</a:t>
            </a:r>
            <a:r>
              <a:rPr dirty="0"/>
              <a:t> </a:t>
            </a:r>
            <a:r>
              <a:rPr dirty="0" err="1"/>
              <a:t>yetkinliği</a:t>
            </a:r>
            <a:r>
              <a:rPr dirty="0"/>
              <a:t>, </a:t>
            </a:r>
            <a:r>
              <a:rPr dirty="0" err="1"/>
              <a:t>ölçeklenebilir</a:t>
            </a:r>
            <a:r>
              <a:rPr dirty="0"/>
              <a:t> multi-tenant SaaS </a:t>
            </a:r>
            <a:r>
              <a:rPr dirty="0" err="1"/>
              <a:t>mimarisi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Swagger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canlı</a:t>
            </a:r>
            <a:r>
              <a:rPr dirty="0"/>
              <a:t> API </a:t>
            </a:r>
            <a:r>
              <a:rPr dirty="0" err="1"/>
              <a:t>dokümantasyonu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Sorularınız</a:t>
            </a:r>
            <a:r>
              <a:rPr dirty="0"/>
              <a:t> </a:t>
            </a:r>
            <a:r>
              <a:rPr dirty="0" err="1"/>
              <a:t>varsa</a:t>
            </a:r>
            <a:r>
              <a:rPr dirty="0"/>
              <a:t> </a:t>
            </a:r>
            <a:r>
              <a:rPr dirty="0" err="1"/>
              <a:t>yanıtlamaktan</a:t>
            </a:r>
            <a:r>
              <a:rPr dirty="0"/>
              <a:t> </a:t>
            </a:r>
            <a:r>
              <a:rPr dirty="0" err="1"/>
              <a:t>memnuniyet</a:t>
            </a:r>
            <a:r>
              <a:rPr dirty="0"/>
              <a:t> </a:t>
            </a:r>
            <a:r>
              <a:rPr dirty="0" err="1"/>
              <a:t>duyarız</a:t>
            </a:r>
            <a:r>
              <a:rPr dirty="0"/>
              <a:t>. </a:t>
            </a:r>
            <a:r>
              <a:rPr dirty="0" err="1"/>
              <a:t>Teşekkür</a:t>
            </a:r>
            <a:r>
              <a:rPr dirty="0"/>
              <a:t> </a:t>
            </a:r>
            <a:r>
              <a:rPr dirty="0" err="1"/>
              <a:t>ederiz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CFDDEC"/>
                </a:solidFill>
                <a:latin typeface="Calibri"/>
              </a:rPr>
              <a:t>İSTANBUL SAĞLIK VE TEKNOLOJİ ÜNİVERSİTESİ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dirty="0" err="1">
                <a:solidFill>
                  <a:srgbClr val="9EB8D2"/>
                </a:solidFill>
                <a:latin typeface="Calibri"/>
              </a:rPr>
              <a:t>Mühendislik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ve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Doğa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Bilimleri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Fakültesi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•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Yazılım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Mühendisliği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Bölümü</a:t>
            </a:r>
            <a:endParaRPr sz="1250" b="0" i="0" dirty="0">
              <a:solidFill>
                <a:srgbClr val="9EB8D2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9EB8D2"/>
                </a:solidFill>
                <a:latin typeface="Calibri"/>
              </a:rPr>
              <a:t>YAZ402 — </a:t>
            </a:r>
            <a:r>
              <a:rPr sz="1300" b="0" i="0" dirty="0" err="1">
                <a:solidFill>
                  <a:srgbClr val="9EB8D2"/>
                </a:solidFill>
                <a:latin typeface="Calibri"/>
              </a:rPr>
              <a:t>Yazılım</a:t>
            </a:r>
            <a:r>
              <a:rPr sz="130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EB8D2"/>
                </a:solidFill>
                <a:latin typeface="Calibri"/>
              </a:rPr>
              <a:t>Gerçekleme</a:t>
            </a:r>
            <a:r>
              <a:rPr sz="1300" b="0" i="0" dirty="0">
                <a:solidFill>
                  <a:srgbClr val="9EB8D2"/>
                </a:solidFill>
                <a:latin typeface="Calibri"/>
              </a:rPr>
              <a:t>, Test </a:t>
            </a:r>
            <a:r>
              <a:rPr sz="1300" b="0" i="0" dirty="0" err="1">
                <a:solidFill>
                  <a:srgbClr val="9EB8D2"/>
                </a:solidFill>
                <a:latin typeface="Calibri"/>
              </a:rPr>
              <a:t>ve</a:t>
            </a:r>
            <a:r>
              <a:rPr sz="130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EB8D2"/>
                </a:solidFill>
                <a:latin typeface="Calibri"/>
              </a:rPr>
              <a:t>Bakım</a:t>
            </a:r>
            <a:endParaRPr sz="1300" b="0" i="0" dirty="0">
              <a:solidFill>
                <a:srgbClr val="9EB8D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356451"/>
            <a:ext cx="10332720" cy="168789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5400" b="1" i="0" dirty="0">
                <a:solidFill>
                  <a:srgbClr val="F3EFE0"/>
                </a:solidFill>
                <a:latin typeface="Georgia"/>
              </a:rPr>
              <a:t>Final </a:t>
            </a:r>
            <a:r>
              <a:rPr sz="5400" b="1" i="0" dirty="0" err="1">
                <a:solidFill>
                  <a:srgbClr val="F3EFE0"/>
                </a:solidFill>
                <a:latin typeface="Georgia"/>
              </a:rPr>
              <a:t>Proje</a:t>
            </a:r>
            <a:r>
              <a:rPr sz="5400" b="1" i="0" dirty="0">
                <a:solidFill>
                  <a:srgbClr val="F3EFE0"/>
                </a:solidFill>
                <a:latin typeface="Georgia"/>
              </a:rPr>
              <a:t> </a:t>
            </a:r>
            <a:r>
              <a:rPr lang="en-US" sz="5400" b="1" i="0" dirty="0" err="1">
                <a:solidFill>
                  <a:srgbClr val="F3EFE0"/>
                </a:solidFill>
                <a:latin typeface="Georgia"/>
              </a:rPr>
              <a:t>Sunumu</a:t>
            </a:r>
            <a:endParaRPr sz="5400" b="1" i="0" dirty="0">
              <a:solidFill>
                <a:srgbClr val="F3EFE0"/>
              </a:solidFill>
              <a:latin typeface="Georgia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dirty="0" err="1">
                <a:solidFill>
                  <a:srgbClr val="FFFFFF"/>
                </a:solidFill>
                <a:latin typeface="Calibri"/>
              </a:rPr>
              <a:t>Yaşca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Diş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Kliniği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Yönetim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Sistemi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 dirty="0" err="1">
                <a:solidFill>
                  <a:srgbClr val="BFD2E6"/>
                </a:solidFill>
                <a:latin typeface="Calibri"/>
              </a:rPr>
              <a:t>Çok-Kiracılı</a:t>
            </a:r>
            <a:r>
              <a:rPr sz="1600" b="0" i="1" dirty="0">
                <a:solidFill>
                  <a:srgbClr val="BFD2E6"/>
                </a:solidFill>
                <a:latin typeface="Calibri"/>
              </a:rPr>
              <a:t> (Multi-Tenant) SaaS </a:t>
            </a:r>
            <a:r>
              <a:rPr sz="1600" b="0" i="1" dirty="0" err="1">
                <a:solidFill>
                  <a:srgbClr val="BFD2E6"/>
                </a:solidFill>
                <a:latin typeface="Calibri"/>
              </a:rPr>
              <a:t>Mimarisi</a:t>
            </a:r>
            <a:endParaRPr sz="1600" b="0" i="1" dirty="0">
              <a:solidFill>
                <a:srgbClr val="BFD2E6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32720" cy="209858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</a:pPr>
            <a:r>
              <a:rPr sz="1400" b="0" i="1" dirty="0" err="1">
                <a:solidFill>
                  <a:srgbClr val="BFD2E6"/>
                </a:solidFill>
                <a:latin typeface="Calibri"/>
              </a:rPr>
              <a:t>Sistem</a:t>
            </a:r>
            <a:r>
              <a:rPr sz="1400" b="0" i="1" dirty="0">
                <a:solidFill>
                  <a:srgbClr val="BFD2E6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BFD2E6"/>
                </a:solidFill>
                <a:latin typeface="Calibri"/>
              </a:rPr>
              <a:t>Analizinden</a:t>
            </a:r>
            <a:r>
              <a:rPr sz="1400" b="0" i="1" dirty="0">
                <a:solidFill>
                  <a:srgbClr val="BFD2E6"/>
                </a:solidFill>
                <a:latin typeface="Calibri"/>
              </a:rPr>
              <a:t> Test </a:t>
            </a:r>
            <a:r>
              <a:rPr sz="1400" b="0" i="1" dirty="0" err="1">
                <a:solidFill>
                  <a:srgbClr val="BFD2E6"/>
                </a:solidFill>
                <a:latin typeface="Calibri"/>
              </a:rPr>
              <a:t>Sonuçlarına</a:t>
            </a:r>
            <a:r>
              <a:rPr sz="1400" b="0" i="1" dirty="0">
                <a:solidFill>
                  <a:srgbClr val="BFD2E6"/>
                </a:solidFill>
                <a:latin typeface="Calibri"/>
              </a:rPr>
              <a:t> Tam </a:t>
            </a:r>
            <a:r>
              <a:rPr sz="1400" b="0" i="1" dirty="0" err="1">
                <a:solidFill>
                  <a:srgbClr val="BFD2E6"/>
                </a:solidFill>
                <a:latin typeface="Calibri"/>
              </a:rPr>
              <a:t>Dokümantasyon</a:t>
            </a:r>
            <a:endParaRPr sz="1400" b="0" i="1" dirty="0">
              <a:solidFill>
                <a:srgbClr val="BFD2E6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 err="1">
                <a:solidFill>
                  <a:srgbClr val="F3EFE0"/>
                </a:solidFill>
                <a:latin typeface="Calibri"/>
              </a:rPr>
              <a:t>Grup</a:t>
            </a:r>
            <a:r>
              <a:rPr sz="1600" b="1" i="0" dirty="0">
                <a:solidFill>
                  <a:srgbClr val="F3EFE0"/>
                </a:solidFill>
                <a:latin typeface="Calibri"/>
              </a:rPr>
              <a:t> 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dirty="0">
                <a:solidFill>
                  <a:srgbClr val="CFDDEC"/>
                </a:solidFill>
              </a:rPr>
              <a:t> • </a:t>
            </a:r>
            <a:r>
              <a:rPr sz="1400" b="0" i="0" dirty="0">
                <a:solidFill>
                  <a:srgbClr val="CFDDEC"/>
                </a:solidFill>
                <a:latin typeface="Calibri"/>
              </a:rPr>
              <a:t>Yaman </a:t>
            </a:r>
            <a:r>
              <a:rPr sz="1400" b="0" i="0" dirty="0" err="1">
                <a:solidFill>
                  <a:srgbClr val="CFDDEC"/>
                </a:solidFill>
                <a:latin typeface="Calibri"/>
              </a:rPr>
              <a:t>Halloum</a:t>
            </a:r>
            <a:r>
              <a:rPr sz="1400" b="0" i="0" dirty="0">
                <a:solidFill>
                  <a:srgbClr val="CFDDEC"/>
                </a:solidFill>
                <a:latin typeface="Calibri"/>
              </a:rPr>
              <a:t>  </a:t>
            </a:r>
            <a:endParaRPr lang="en-US" sz="1400" b="0" i="0" dirty="0">
              <a:solidFill>
                <a:srgbClr val="CFDDEC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CFDDEC"/>
                </a:solidFill>
                <a:latin typeface="Calibri"/>
              </a:rPr>
              <a:t>•  Ali </a:t>
            </a:r>
            <a:r>
              <a:rPr sz="1400" b="0" i="0" dirty="0" err="1">
                <a:solidFill>
                  <a:srgbClr val="CFDDEC"/>
                </a:solidFill>
                <a:latin typeface="Calibri"/>
              </a:rPr>
              <a:t>Üre</a:t>
            </a:r>
            <a:r>
              <a:rPr sz="1400" b="0" i="0" dirty="0">
                <a:solidFill>
                  <a:srgbClr val="CFDDEC"/>
                </a:solidFill>
                <a:latin typeface="Calibri"/>
              </a:rPr>
              <a:t>  </a:t>
            </a:r>
            <a:endParaRPr lang="en-US" sz="1400" b="0" i="0" dirty="0">
              <a:solidFill>
                <a:srgbClr val="CFDDEC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CFDDEC"/>
                </a:solidFill>
                <a:latin typeface="Calibri"/>
              </a:rPr>
              <a:t>•  Cihan </a:t>
            </a:r>
            <a:r>
              <a:rPr sz="1400" b="0" i="0" dirty="0" err="1">
                <a:solidFill>
                  <a:srgbClr val="CFDDEC"/>
                </a:solidFill>
                <a:latin typeface="Calibri"/>
              </a:rPr>
              <a:t>Kurtbey</a:t>
            </a:r>
            <a:r>
              <a:rPr sz="1400" b="0" i="0" dirty="0">
                <a:solidFill>
                  <a:srgbClr val="CFDDEC"/>
                </a:solidFill>
                <a:latin typeface="Calibri"/>
              </a:rPr>
              <a:t>  </a:t>
            </a:r>
            <a:endParaRPr lang="en-US" sz="1400" b="0" i="0" dirty="0">
              <a:solidFill>
                <a:srgbClr val="CFDDEC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CFDDEC"/>
                </a:solidFill>
                <a:latin typeface="Calibri"/>
              </a:rPr>
              <a:t>•  Berkay Aydın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Raporun Genel Akışı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1.  Giriş ve Proje Kapsamı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2.  Yazılım Gereksinimleri (FR / NFR)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3.  Detaylı UML Tasarımı (Sekans + Sınıf)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4.  Teknoloji Karar Analizi (DAR)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>
                <a:solidFill>
                  <a:srgbClr val="0C4270"/>
                </a:solidFill>
                <a:latin typeface="Georgia"/>
              </a:rPr>
              <a:t>5. 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İç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ve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Dış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Arayüzler</a:t>
            </a:r>
            <a:endParaRPr sz="1600" b="1" i="0" dirty="0">
              <a:solidFill>
                <a:srgbClr val="0C4270"/>
              </a:solidFill>
              <a:latin typeface="Georgi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269748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6.  Birim Test Sonuçları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39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7.  Bakım ve Gelecek Önerileri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0060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80060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8.  Sonuç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1. Giriş ve Proje Kapsamı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577840" cy="4937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4270"/>
                </a:solidFill>
                <a:latin typeface="Georgia"/>
              </a:rPr>
              <a:t>Projenin Amacı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Diş kliniklerinin günlük operasyonlarını dijitalleştiren, hasta kaydı, randevu, tedavi/finans ve dijital odontogram modüllerini tek çatıda sunan çok-kiracılı (multi-tenant) bir SaaS uygulamasıdır. Her kliniğin verisi PostgreSQL şema tabanlı mimariyle fiziksel olarak izole edilir.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C4270"/>
                </a:solidFill>
                <a:latin typeface="Georgia"/>
              </a:rPr>
              <a:t>Ana Hedefler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Hasta kayıt ve anamnez yönetimini dijitalleştirmek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Çakışma kontrollü randevu ile operasyonel verimlilik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Tedavi + ödeme takibini entegre sunmak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Dijital diş şeması (Odontogram) ile görselleştirme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JWT kimlik doğrulama + rol bazlı yetkilendirme (RBAC)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2588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527048"/>
            <a:ext cx="4745736" cy="1965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Hedef Kullanıcılar (Roller)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Yönetici (Admin): klinik ayarları, personel, tüm verilere tam erişim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Hekim (Doktor): kendi hastaları, tedavi girişi, odontogram, dashboard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Asistan: hasta kaydı, randevu oluşturma, ödeme girişi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794760"/>
            <a:ext cx="5257800" cy="251460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3995928"/>
            <a:ext cx="4745736" cy="2148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F3EFE0"/>
                </a:solidFill>
                <a:latin typeface="Georgia"/>
              </a:rPr>
              <a:t>Kritik </a:t>
            </a:r>
            <a:r>
              <a:rPr sz="1600" b="1" i="0" dirty="0" err="1">
                <a:solidFill>
                  <a:srgbClr val="F3EFE0"/>
                </a:solidFill>
                <a:latin typeface="Georgia"/>
              </a:rPr>
              <a:t>Başarı</a:t>
            </a:r>
            <a:r>
              <a:rPr sz="1600" b="1" i="0" dirty="0">
                <a:solidFill>
                  <a:srgbClr val="F3EFE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F3EFE0"/>
                </a:solidFill>
                <a:latin typeface="Georgia"/>
              </a:rPr>
              <a:t>Kriterleri</a:t>
            </a:r>
            <a:endParaRPr sz="1600" b="1" i="0" dirty="0">
              <a:solidFill>
                <a:srgbClr val="F3EFE0"/>
              </a:solidFill>
              <a:latin typeface="Georgia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E8EFF6"/>
                </a:solidFill>
                <a:latin typeface="Calibri"/>
              </a:rPr>
              <a:t>✓ 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Randevu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çakışması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%0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E8EFF6"/>
                </a:solidFill>
                <a:latin typeface="Calibri"/>
              </a:rPr>
              <a:t>✓ 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Kiracılar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arası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veri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sızıntısı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=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sıfır</a:t>
            </a:r>
            <a:endParaRPr sz="1250" b="0" i="0" dirty="0">
              <a:solidFill>
                <a:srgbClr val="E8EFF6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E8EFF6"/>
                </a:solidFill>
                <a:latin typeface="Calibri"/>
              </a:rPr>
              <a:t>✓  API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yanıt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süresi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&lt; 2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sn</a:t>
            </a:r>
            <a:endParaRPr sz="1250" b="0" i="0" dirty="0">
              <a:solidFill>
                <a:srgbClr val="E8EFF6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E8EFF6"/>
                </a:solidFill>
                <a:latin typeface="Calibri"/>
              </a:rPr>
              <a:t>✓  ≥ 54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birim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testin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tamamı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PASSED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E8EFF6"/>
                </a:solidFill>
                <a:latin typeface="Calibri"/>
              </a:rPr>
              <a:t>✓ 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Tüm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endpoint'ler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Swagger/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OpenAPI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ile</a:t>
            </a:r>
            <a:r>
              <a:rPr sz="125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E8EFF6"/>
                </a:solidFill>
                <a:latin typeface="Calibri"/>
              </a:rPr>
              <a:t>dokümante</a:t>
            </a:r>
            <a:endParaRPr sz="1250" b="0" i="0" dirty="0">
              <a:solidFill>
                <a:srgbClr val="E8EFF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2.1. Fonksiyonel İsterler (FR)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Gereksinim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Açıklama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Kimlik Doğrulama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JWT tabanlı güvenli giriş; access + refresh token çifti döndürülmesi.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Hasta Yönetimi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Yeni hasta kaydı + anamnez (tıbbi özgeçmiş); güncelleme ve listeleme.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Randevu Yönetimi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Çakışma kontrollü randevu; aynı hekime aynı tarih-saatte mükerrer randevu engellenir.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Klinik Operasyon (Dashboard)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Günlük özet: bugünkü randevular, tamamlanan işlem sayısı, aktif hasta sayısı.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Tedavi ve Finans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Tedavilerin girilmesi, ödeme kayıtları ve tedavi-finans entegrasyonu.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Sistem Yönetimi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Yöneticinin çalışma saatleri/ayar güncellemesi; 403 ile yalnızca Admin erişimi.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2.2. Fonksiyonel Olmayan İsterler (NFR)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Açıklama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Performans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API sorgu süresi 2 saniyeden az olmalıdır.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Güvenlik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JWT tabanlı kimlik doğrulama + RBAC ile yetkilendirme.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Veri İzolasyonu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Her klinik verisi PostgreSQL şema seviyesinde fiziksel izolasyon.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Ölçeklenebilirlik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Birden fazla kliniğin eşzamanlı kullanımı desteklenmelidir.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Bakım Yapılabilirlik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Modüler mimari + yüksek test kapsamı ile düşük bakım maliyeti.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Kullanılabilirlik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Sezgisel ve Türkçe kullanıcı arayüzü.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A5A5A"/>
                </a:solidFill>
                <a:latin typeface="Calibri"/>
              </a:rPr>
              <a:t>Bu kalite nitelikleri, mimari kararların (multi-tenant izolasyon, RBAC, modülerlik) doğrudan gerekçesini oluşturur.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 Detaylı UML Tasarımı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Boundary–Control–Entity ayrımıyla 6 sekans + 2 sınıf diyagramı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5065776" cy="4434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0C4270"/>
                </a:solidFill>
                <a:latin typeface="Georgia"/>
              </a:rPr>
              <a:t>Sekans Diyagramları (Dinamik)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SD-01: Kullanıcı Girişi ve Oturum Doğrulaması (FR-01)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SD-02: Hasta Kaydı ve Anamnez Güncelleme (FR-02)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SD-03: Randevu Oluşturma + Çakışma Kontrolü (FR-03)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SD-04: Günlük Dashboard Özet Akışı (FR-04)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SD-05: Tedavi ve Ödeme Girişi (FR-05)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SD-06: Klinik Ayarları Güncelleme (FR-06)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5257800" cy="480060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1664208"/>
            <a:ext cx="4745736" cy="4434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3EFE0"/>
                </a:solidFill>
                <a:latin typeface="Georgia"/>
              </a:rPr>
              <a:t>Sınıf Diyagramları (Statik)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•  Domain Katmanı: 8 veri varlığı (Entity) ve ilişkileri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•  Uygulama Katmanı: Boundary (UI) – Control (ViewSet/Serializer)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◈  Tutarlılık: sekanstaki mesajlar = ApiService metodları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◈  Sorumlulukların ayrılığı: MVC/MVT (Boundary→Control→Entity)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◈  Çokluk doğrulaması: Clinic 1..* Patient / CustomUser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0C4270"/>
                </a:solidFill>
                <a:latin typeface="Georgia"/>
              </a:rPr>
              <a:t>3.2.1.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Sınıf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Diyagramı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— Domain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Katmanı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(Veri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Varlıkları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)</a:t>
            </a:r>
          </a:p>
        </p:txBody>
      </p:sp>
      <p:pic>
        <p:nvPicPr>
          <p:cNvPr id="5" name="Picture 4" descr="WhatsApp Image 2026-04-25 at 17.27.3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510" y="1371600"/>
            <a:ext cx="5415379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452360" y="1417320"/>
            <a:ext cx="42062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8392" y="1618488"/>
            <a:ext cx="3694176" cy="4572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İlişki Türleri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Clinic → Patient : 1..* Association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Clinic → CustomUser : 1..* Association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Patient → Anamnesis : 1..1 Composition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Patient → Appointment : 1..* Composition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Appointment → Treatment : 1..* Aggregation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Treatment → Payment : 1..1 Association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TreatmentType → Treatment : 1..* (type)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0C4270"/>
                </a:solidFill>
                <a:latin typeface="Georgia"/>
              </a:rPr>
              <a:t>3.2.2.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Sınıf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Diyagramı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—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Uygulama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Katmanı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(Boundary / Control)</a:t>
            </a:r>
          </a:p>
        </p:txBody>
      </p:sp>
      <p:pic>
        <p:nvPicPr>
          <p:cNvPr id="5" name="Picture 4" descr="WhatsApp Image 2026-04-25 at 17.28.4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14" y="1371600"/>
            <a:ext cx="6603691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641080" y="1417320"/>
            <a:ext cx="3017520" cy="493776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97112" y="1618488"/>
            <a:ext cx="2505456" cy="4572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3EFE0"/>
                </a:solidFill>
                <a:latin typeface="Georgia"/>
              </a:rPr>
              <a:t>Stereotipler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8EFF6"/>
                </a:solidFill>
                <a:latin typeface="Calibri"/>
              </a:rPr>
              <a:t>•  Boundary (UI): LoginPage, Dashboard, PatientDialog, AppointmentDialog…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8EFF6"/>
                </a:solidFill>
                <a:latin typeface="Calibri"/>
              </a:rPr>
              <a:t>•  Control: ApiService (frontend), ViewSet + Serializer (backend)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8EFF6"/>
                </a:solidFill>
                <a:latin typeface="Calibri"/>
              </a:rPr>
              <a:t>◈  Boundary doğrudan Entity ile konuşmaz; araya Control girer.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3.1. Sekans Diyagramı — SD-02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Hasta Kaydı ve Anamnez Güncelleme (FR-02): PatientDialog → ApiService → PatientViewSet → Patient + Anamnesis</a:t>
            </a:r>
          </a:p>
        </p:txBody>
      </p:sp>
      <p:pic>
        <p:nvPicPr>
          <p:cNvPr id="6" name="Picture 5" descr="WhatsApp Image 2026-04-25 at 17.24.3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669" y="1463040"/>
            <a:ext cx="6569901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3.1. Sekans Diyagramı — SD-03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Randevu Oluşturma ve Çakışma Kontrolü (FR-03): exists() kontrolü → çakışmada 400, uygunlukta 201 (alt fragment)</a:t>
            </a:r>
          </a:p>
        </p:txBody>
      </p:sp>
      <p:pic>
        <p:nvPicPr>
          <p:cNvPr id="6" name="Picture 5" descr="WhatsApp Image 2026-04-25 at 17.06.0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42" y="1463040"/>
            <a:ext cx="8676556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3.1. Sekans Diyagramı — SD-04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Günlük Dashboard Özet Akışı (FR-04): bugünkü randevular + tamamlanan işlem + aktif hasta sayısı tek uç noktadan</a:t>
            </a:r>
          </a:p>
        </p:txBody>
      </p:sp>
      <p:pic>
        <p:nvPicPr>
          <p:cNvPr id="6" name="Picture 5" descr="WhatsApp Image 2026-04-25 at 17.23.2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37" y="1463040"/>
            <a:ext cx="10395365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3.1. Sekans Diyagramı — SD-06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Klinik Ayarları Güncelleme (FR-06): IsAdminUser yetki kontrolü → admin değilse 403 Forbidden (alt fragment)</a:t>
            </a:r>
          </a:p>
        </p:txBody>
      </p:sp>
      <p:pic>
        <p:nvPicPr>
          <p:cNvPr id="6" name="Picture 5" descr="WhatsApp Image 2026-04-25 at 17.25.2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655" y="1463040"/>
            <a:ext cx="6653930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4. Teknoloji Karar Analizi (DAR)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Alternatifler 1 (en düşük) – 5 (en yüksek) arası puanlandı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 dirty="0" err="1">
                <a:solidFill>
                  <a:srgbClr val="2B2B2B"/>
                </a:solidFill>
                <a:latin typeface="Calibri"/>
              </a:rPr>
              <a:t>Adım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1'deki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nesne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tabanlı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tasarımı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iyi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gerçekleyecek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teknoloji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yığını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;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performans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ekip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yetkinliği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güvenlik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ve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OOP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uyumu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kriterleriyle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objektif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olarak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seçildi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4270"/>
                </a:solidFill>
                <a:latin typeface="Georgia"/>
              </a:rPr>
              <a:t>4.4.1. Backend Framework Karar Matrisi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560320"/>
          <a:ext cx="11091671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Kriter</a:t>
                      </a:r>
                      <a:endParaRPr sz="110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Django REST (Python)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Express.js (Node)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Spring Boot (Java)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Geliştirme Hızı / Öğrenme Eğrisi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Dahili Güvenlik (Auth / RBAC)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Ekip Yetkinliği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Sınıf Diyagramı (OOP) Uyumluluğu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TOPLAM PUAN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0C4270"/>
                </a:solidFill>
                <a:latin typeface="Calibri"/>
              </a:rPr>
              <a:t>Sonuç: Güvenlik altyapısı ve ekibin hızı göz önüne alınarak Django REST Framework seçilmiştir.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0C4270"/>
                </a:solidFill>
                <a:latin typeface="Georgia"/>
              </a:rPr>
              <a:t>4.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Teknoloji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Karar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Analizi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(DAR) —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Veritabanı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&amp;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4.4.2. Veri Tabanı Karar Matrisi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4864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Kriter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MongoDB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Veri Bütünlüğü (ACID)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Sınıf/İlişki Modelleme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Production Ölçeklenebilirlik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Medikal Veri Güvenliği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TOPLAM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262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1">
                <a:solidFill>
                  <a:srgbClr val="0C4270"/>
                </a:solidFill>
                <a:latin typeface="Calibri"/>
              </a:rPr>
              <a:t>Sonuç: İlişkisel yapı + ölçeklenebilirlik → PostgreSQL.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4.4.3. Frontend Framework Karar Matrisi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645920"/>
          <a:ext cx="54864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Kriter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React.js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Vue.js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Angular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Topluluk Desteği / Kaynak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Odontogram için DOM Perf.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Ekip Yetkinliği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Component (Boundary) Uyumu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TOPLAM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45262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1">
                <a:solidFill>
                  <a:srgbClr val="0C4270"/>
                </a:solidFill>
                <a:latin typeface="Calibri"/>
              </a:rPr>
              <a:t>Sonuç: DOM gücü + ekip tecrübesi → React.js (TypeScript).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11155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5413248"/>
            <a:ext cx="10643616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Backend Dil: Python  •  ORM: Django ORM (ForeignKey ile 1..* ilişkiler)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Python: hızlı prototipleme + zengin güvenlik/şifreleme kütüphaneleri (Java'ya karşı tercih).  Django ORM: sınıf diyagramı nesnelerini tablolara birebir eşler (mapping).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5. İç ve Dış Arayüzler — API Endpoint Kontratları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Opsiyon A • Swagger (drf-spectacular) ile canlı dokümantasyon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C4270"/>
                </a:solidFill>
                <a:latin typeface="Georgia"/>
              </a:rPr>
              <a:t>A) POST /api/auth/token/  (FR-01)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54864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Request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{"username": "...", "password": "..."}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200 OK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{"access": "eyJ...", "refresh": "eyJ..."}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Hata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401 Unauthorized • 400 Bad Request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417320"/>
            <a:ext cx="5486400" cy="2550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50" b="1" dirty="0">
                <a:solidFill>
                  <a:srgbClr val="0C4270"/>
                </a:solidFill>
                <a:latin typeface="Georgia"/>
              </a:rPr>
              <a:t>B</a:t>
            </a:r>
            <a:r>
              <a:rPr sz="1350" b="1" i="0" dirty="0">
                <a:solidFill>
                  <a:srgbClr val="0C4270"/>
                </a:solidFill>
                <a:latin typeface="Georgia"/>
              </a:rPr>
              <a:t>) POST /</a:t>
            </a:r>
            <a:r>
              <a:rPr sz="1350" b="1" i="0" dirty="0" err="1">
                <a:solidFill>
                  <a:srgbClr val="0C4270"/>
                </a:solidFill>
                <a:latin typeface="Georgia"/>
              </a:rPr>
              <a:t>api</a:t>
            </a:r>
            <a:r>
              <a:rPr sz="1350" b="1" i="0" dirty="0">
                <a:solidFill>
                  <a:srgbClr val="0C4270"/>
                </a:solidFill>
                <a:latin typeface="Georgia"/>
              </a:rPr>
              <a:t>/appointments/  (FR-03)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783080"/>
          <a:ext cx="54864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Request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{"patient":15,"doctor":3,"date":"2026-06-15","time":"14:30"}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201 Created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Oluşturulan randevu nesnesi (id: 42)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Hata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400 (Çakışma/Conflict) • 403 Forbidden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65760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3858768"/>
            <a:ext cx="4974336" cy="166359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500" b="1" dirty="0">
                <a:solidFill>
                  <a:srgbClr val="0C4270"/>
                </a:solidFill>
                <a:latin typeface="Georgia"/>
              </a:rPr>
              <a:t>C</a:t>
            </a:r>
            <a:r>
              <a:rPr sz="1500" b="1" i="0" dirty="0">
                <a:solidFill>
                  <a:srgbClr val="0C4270"/>
                </a:solidFill>
                <a:latin typeface="Georgia"/>
              </a:rPr>
              <a:t>) GET /</a:t>
            </a:r>
            <a:r>
              <a:rPr sz="1500" b="1" i="0" dirty="0" err="1">
                <a:solidFill>
                  <a:srgbClr val="0C4270"/>
                </a:solidFill>
                <a:latin typeface="Georgia"/>
              </a:rPr>
              <a:t>api</a:t>
            </a:r>
            <a:r>
              <a:rPr sz="1500" b="1" i="0" dirty="0">
                <a:solidFill>
                  <a:srgbClr val="0C4270"/>
                </a:solidFill>
                <a:latin typeface="Georgia"/>
              </a:rPr>
              <a:t>/dashboard/today/  (FR-04)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today_appointments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: [...]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today_total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: 12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today_completed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: 4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total_patients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: 150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2B2B2B"/>
                </a:solidFill>
                <a:latin typeface="Calibri"/>
              </a:rPr>
              <a:t>Tek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uç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noktadan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günlük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özet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(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tamamlanan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+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aktif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hasta).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5760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3858768"/>
            <a:ext cx="4974336" cy="2286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3EFE0"/>
                </a:solidFill>
                <a:latin typeface="Georgia"/>
              </a:rPr>
              <a:t>Katmanlar Arası İletişim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8EFF6"/>
                </a:solidFill>
                <a:latin typeface="Calibri"/>
              </a:rPr>
              <a:t>•  Model ↔ ViewSet ↔ Serializer: JSON paketleri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8EFF6"/>
                </a:solidFill>
                <a:latin typeface="Calibri"/>
              </a:rPr>
              <a:t>•  AppointmentViewSet: get_serializer_class ile create/update ayrımı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8EFF6"/>
                </a:solidFill>
                <a:latin typeface="Calibri"/>
              </a:rPr>
              <a:t>•  Serializer.validate(): FR-03 çakışma algoritması (400)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8EFF6"/>
                </a:solidFill>
                <a:latin typeface="Calibri"/>
              </a:rPr>
              <a:t>•  RBAC: doctor yalnız kendi randevularını görür (get_queryset)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5.3. Dış Servis Entegrasyonu &amp; Multi-Tenant Mimarisi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664208"/>
            <a:ext cx="4974336" cy="438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0C4270"/>
                </a:solidFill>
                <a:latin typeface="Georgia"/>
              </a:rPr>
              <a:t>Harici SMS Sağlayıcı Entegrasyonu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Randevu oluşturulduğunda harici SMS API'sine bildirim isteği atılır.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Payload: { api_key, phone_number, message }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Hata yönetimi: SMS API timeout olursa işlem ÇÖKMEZ;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hata log'a yazılır, randevu asenkron tamamlanır.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Frontend: axios + JWT (Bearer) interceptor ile otomatik header.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664208"/>
            <a:ext cx="4882896" cy="438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3EFE0"/>
                </a:solidFill>
                <a:latin typeface="Georgia"/>
              </a:rPr>
              <a:t>Multi-Tenant (SaaS) Mimarisi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•  django-tenants ile çoklu kiracı yapısı (schema-per-tenant).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•  HeaderTenantMiddleware: Request'teki domain/tenant kimliğini okur.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•  İlgili kliniğin PostgreSQL şemasına yönlendirir.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•  Sonuç: veri güvenliği fiziksel izolasyon ile sağlanır.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◈  Kiracılar arası veri sızıntısı mimari düzeyde imkânsız.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6. Birim Test Sonuçları — Ortam ve Kritik Sınıflar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6.1. Test Ortamı ve Araçlar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4864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Araç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Görevi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pytest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Test koşum motoru (sade assert)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pytest-django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İzole, otomatik rollback'li DB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factory-boy + Faker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Türkçe sahte test verisi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unittest.mock / monkeypatch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Bağımlılık taklidi (mocking)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6.2. Test Edilen 5 Kritik Sınıf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645920"/>
          <a:ext cx="54864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Sınıf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Metot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Mock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AppointmentCreateSerializer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validate()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HeaderTenantMiddleware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__call__()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Evet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RegisterClinicView / CheckDomainView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post() / get()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Evet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PatientSerializer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create / update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TreatmentSerializer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validate()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77639"/>
            <a:ext cx="1106424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4270"/>
                </a:solidFill>
                <a:latin typeface="Georgia"/>
              </a:rPr>
              <a:t>Test Tasarım Metodolojisi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✓  Pozitif senaryo: Girdiler beklenen aralıkta olduğunda metodun doğru sonucu üretmesi (ör. boş randevu saatinin kabulü).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✓  Negatif senaryo: Hatalı/geçersiz girdilerle sistemin doğru şekilde hata fırlatması veya işlemi reddetmesi (ör. çakışan randevunun ValidationError ile reddi).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5A5A"/>
                </a:solidFill>
                <a:latin typeface="Calibri"/>
              </a:rPr>
              <a:t>Önemli: Negatif senaryolarda kodun doğru şekilde hatayı reddetmesi testin BAŞARILI (PASSED) sayıldığı anlamına gelir.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6.3. Birim Test Sonuç Matrisi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Koşum: pytest test_serializers.py test_middleware.py test_register.py → 54 passed. Aşağıda temsilî satırlar listelenmiştir.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Test ID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Hedef Sınıf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Metot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Tür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Senaryo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Açıklaması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Durum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UT-001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AppointmentCreateSerializer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Aynı hekim/tarih/saatte ikinci randevu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UT-003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AppointmentCreateSerializer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Pozitif</a:t>
                      </a:r>
                      <a:endParaRPr sz="9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Aynı</a:t>
                      </a:r>
                      <a:r>
                        <a:rPr sz="9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hekime</a:t>
                      </a:r>
                      <a:r>
                        <a:rPr sz="9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farklı</a:t>
                      </a:r>
                      <a:r>
                        <a:rPr sz="9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saatte</a:t>
                      </a:r>
                      <a:r>
                        <a:rPr sz="9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randevu</a:t>
                      </a:r>
                      <a:endParaRPr sz="9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UT-006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HeaderTenantMiddleware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__call__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Pozitif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X-Tenant header ile doğru kiracı (mock)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UT-011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HeaderTenantMiddleware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__call__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Public tenant tanımsızken eşleşme yok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UT-014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RegisterClinicView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Zorunlu alan (admin_password) eksik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UT-018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CheckDomainView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Boş subdomain parametresi ile sorgu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UT-022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PatientSerializer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create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Telefon (zorunlu) olmadan kayıt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UT-025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TreatmentSerializer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Aynı gün/diş mükerrer tedavi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 dirty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C4270"/>
                </a:solidFill>
                <a:latin typeface="Calibri"/>
              </a:rPr>
              <a:t>Özet:  25 temsilî senaryo (13 Pozitif + 12 Negatif) — TÜMÜ PASSED.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İlgili 3 test dosyasının tam koşumu: 54 / 54 PASSED. Bağımlılıklar (DB, kiracı modeli, şema işlemleri) monkeypatch / MagicMock ile taklit edilerek metotlar gerçekten izole edilmiştir.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7. Bakım ve Gelecek Önerileri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618488"/>
            <a:ext cx="3054096" cy="4480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 dirty="0">
                <a:solidFill>
                  <a:srgbClr val="0E5189"/>
                </a:solidFill>
                <a:latin typeface="Calibri"/>
              </a:rPr>
              <a:t>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0C4270"/>
                </a:solidFill>
                <a:latin typeface="Georgia"/>
              </a:rPr>
              <a:t>Refactoring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İhtiyaçları</a:t>
            </a:r>
            <a:endParaRPr sz="1600" b="1" i="0" dirty="0">
              <a:solidFill>
                <a:srgbClr val="0C4270"/>
              </a:solidFill>
              <a:latin typeface="Georgia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Servis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Katmanı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(Service Layer)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ayrımı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iş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kurallarını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ViewSet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/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Serializer'dan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ayırmak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•  Test </a:t>
            </a:r>
            <a:r>
              <a:rPr lang="en-US" sz="1200" b="0" i="0" dirty="0" err="1">
                <a:solidFill>
                  <a:srgbClr val="2B2B2B"/>
                </a:solidFill>
                <a:latin typeface="Calibri"/>
              </a:rPr>
              <a:t>kapsamını</a:t>
            </a: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lang="en-US" sz="1200" b="0" i="0" dirty="0" err="1">
                <a:solidFill>
                  <a:srgbClr val="2B2B2B"/>
                </a:solidFill>
                <a:latin typeface="Calibri"/>
              </a:rPr>
              <a:t>genişletme</a:t>
            </a: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: </a:t>
            </a:r>
            <a:r>
              <a:rPr lang="en-US" sz="1200" b="0" i="0" dirty="0" err="1">
                <a:solidFill>
                  <a:srgbClr val="2B2B2B"/>
                </a:solidFill>
                <a:latin typeface="Calibri"/>
              </a:rPr>
              <a:t>entegrasyon</a:t>
            </a: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 + E2E </a:t>
            </a:r>
            <a:r>
              <a:rPr lang="en-US" sz="1200" b="0" i="0" dirty="0" err="1">
                <a:solidFill>
                  <a:srgbClr val="2B2B2B"/>
                </a:solidFill>
                <a:latin typeface="Calibri"/>
              </a:rPr>
              <a:t>testleri</a:t>
            </a:r>
            <a:endParaRPr lang="en-US"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Merkezi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hata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yönetimi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: RFC 7807 Problem Details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formatı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79392" y="141732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5424" y="1618488"/>
            <a:ext cx="3054096" cy="4480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 dirty="0">
                <a:solidFill>
                  <a:srgbClr val="0E5189"/>
                </a:solidFill>
                <a:latin typeface="Calibri"/>
              </a:rPr>
              <a:t>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0C4270"/>
                </a:solidFill>
                <a:latin typeface="Georgia"/>
              </a:rPr>
              <a:t>Yeni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Özellik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Önerileri</a:t>
            </a:r>
            <a:endParaRPr sz="1600" b="1" i="0" dirty="0">
              <a:solidFill>
                <a:srgbClr val="0C4270"/>
              </a:solidFill>
              <a:latin typeface="Georgia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Gerçek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SMS/WhatsApp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ile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randevu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hatırlatma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Takvimde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sürükle-bırak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(drag &amp; drop)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Dijital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röntgen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/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görüntü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dosyaları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Raporlama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gelir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, hasta,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tedavi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istatistikleri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Mobil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uygulama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(React Native)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Çok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dilli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destek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(i18n)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17320"/>
            <a:ext cx="3630168" cy="484632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66176" y="1618488"/>
            <a:ext cx="3118104" cy="18186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 dirty="0">
                <a:solidFill>
                  <a:srgbClr val="F3EFE0"/>
                </a:solidFill>
                <a:latin typeface="Calibri"/>
              </a:rPr>
              <a:t>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 err="1">
                <a:solidFill>
                  <a:srgbClr val="F3EFE0"/>
                </a:solidFill>
                <a:latin typeface="Georgia"/>
              </a:rPr>
              <a:t>Versiyon</a:t>
            </a:r>
            <a:r>
              <a:rPr sz="1600" b="1" i="0" dirty="0">
                <a:solidFill>
                  <a:srgbClr val="F3EFE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F3EFE0"/>
                </a:solidFill>
                <a:latin typeface="Georgia"/>
              </a:rPr>
              <a:t>Güncelleme</a:t>
            </a:r>
            <a:r>
              <a:rPr sz="1600" b="1" i="0" dirty="0">
                <a:solidFill>
                  <a:srgbClr val="F3EFE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F3EFE0"/>
                </a:solidFill>
                <a:latin typeface="Georgia"/>
              </a:rPr>
              <a:t>Planı</a:t>
            </a:r>
            <a:endParaRPr sz="1600" b="1" i="0" dirty="0">
              <a:solidFill>
                <a:srgbClr val="F3EFE0"/>
              </a:solidFill>
              <a:latin typeface="Georgia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E8EFF6"/>
                </a:solidFill>
                <a:latin typeface="Calibri"/>
              </a:rPr>
              <a:t>•  v1.1 — SMS +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takvim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drag&amp;drop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(202</a:t>
            </a:r>
            <a:r>
              <a:rPr lang="en-US" sz="1200" b="0" i="0" dirty="0">
                <a:solidFill>
                  <a:srgbClr val="E8EFF6"/>
                </a:solidFill>
                <a:latin typeface="Calibri"/>
              </a:rPr>
              <a:t>6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Q3)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E8EFF6"/>
                </a:solidFill>
                <a:latin typeface="Calibri"/>
              </a:rPr>
              <a:t>•  v1.2 —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Raporlama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+ PDF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çıktı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(202</a:t>
            </a:r>
            <a:r>
              <a:rPr lang="en-US" sz="1200" b="0" i="0" dirty="0">
                <a:solidFill>
                  <a:srgbClr val="E8EFF6"/>
                </a:solidFill>
                <a:latin typeface="Calibri"/>
              </a:rPr>
              <a:t>6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Q4)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E8EFF6"/>
                </a:solidFill>
                <a:latin typeface="Calibri"/>
              </a:rPr>
              <a:t>•  v2.0 — Mobil +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çok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dilli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(2026 Q1)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E8EFF6"/>
                </a:solidFill>
                <a:latin typeface="Calibri"/>
              </a:rPr>
              <a:t>•  v2.1 —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Röntgen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+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gelişmiş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analitik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(2026 Q2)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8. Sonuç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943600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2B2B2B"/>
                </a:solidFill>
                <a:latin typeface="Calibri"/>
              </a:rPr>
              <a:t>“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Yaşca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Diş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Kliniği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Yönetim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Sistemi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”;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analiz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tasarım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gerçekleme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, test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ve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bakım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aşamalarının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tamamını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kapsayacak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şekilde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geliştirilmiştir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0" dirty="0" err="1">
                <a:solidFill>
                  <a:srgbClr val="5A5A5A"/>
                </a:solidFill>
                <a:latin typeface="Calibri"/>
              </a:rPr>
              <a:t>Adım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1'de 6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fonksiyonel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gereksinim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(FR-01…06) UML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ile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modellendi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;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Adım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2'de DAR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ile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teknoloji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yığını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karar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matrisleriyle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seçildi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;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Adım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3'te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arayüzler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Swagger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ile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dokümante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edilip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multi-tenant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altyapı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kodlandı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;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Adım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4'te 5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kritik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sınıf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birim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test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ile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doğrulandı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0C4270"/>
                </a:solidFill>
                <a:latin typeface="Georgia"/>
              </a:rPr>
              <a:t>Temel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Çıktılar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Uçtan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uca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test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edilmiş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modüller</a:t>
            </a:r>
            <a:endParaRPr sz="13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Standartlara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uygun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UML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dokümantasyonu</a:t>
            </a:r>
            <a:endParaRPr sz="13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Teknik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karar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verme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yetkinliği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(DAR)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Ölçeklenebilir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multi-tenant SaaS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mimarisi</a:t>
            </a:r>
            <a:endParaRPr sz="13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Swagger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ile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canlı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API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dokümantasyonu</a:t>
            </a:r>
            <a:endParaRPr sz="1300" b="0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800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1783080"/>
            <a:ext cx="4297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4270"/>
                </a:solidFill>
                <a:latin typeface="Georgia"/>
              </a:rPr>
              <a:t>Sayılarla Yaşca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423160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54 / 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423160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 err="1">
                <a:solidFill>
                  <a:srgbClr val="2B2B2B"/>
                </a:solidFill>
                <a:latin typeface="Calibri"/>
              </a:rPr>
              <a:t>birim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test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063239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063239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 err="1">
                <a:solidFill>
                  <a:srgbClr val="2B2B2B"/>
                </a:solidFill>
                <a:latin typeface="Calibri"/>
              </a:rPr>
              <a:t>fonksiyonel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gereksinim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(FR)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703320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703320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NFR + 3 DAR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karar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matrisi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4343400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343400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domain varlığı (sınıf diyagramı)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983479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%0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983479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kiracılar arası veri sızıntısı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5062</Words>
  <Application>Microsoft Office PowerPoint</Application>
  <PresentationFormat>Widescreen</PresentationFormat>
  <Paragraphs>666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ALİ ÜRE</cp:lastModifiedBy>
  <cp:revision>4</cp:revision>
  <dcterms:created xsi:type="dcterms:W3CDTF">2013-01-27T09:14:16Z</dcterms:created>
  <dcterms:modified xsi:type="dcterms:W3CDTF">2026-06-03T07:03:43Z</dcterms:modified>
  <cp:category/>
</cp:coreProperties>
</file>