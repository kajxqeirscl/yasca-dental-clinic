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CFDDEC"/>
                </a:solidFill>
                <a:latin typeface="Calibri"/>
              </a:rPr>
              <a:t>İSTANBUL SAĞLIK VE TEKNOLOJİ ÜNİVERSİTESİ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dirty="0" err="1">
                <a:solidFill>
                  <a:srgbClr val="9EB8D2"/>
                </a:solidFill>
                <a:latin typeface="Calibri"/>
              </a:rPr>
              <a:t>Mühendislik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ve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Doğa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Bilimleri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Fakültesi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•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Yazılım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Mühendisliği</a:t>
            </a:r>
            <a:r>
              <a:rPr sz="125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9EB8D2"/>
                </a:solidFill>
                <a:latin typeface="Calibri"/>
              </a:rPr>
              <a:t>Bölümü</a:t>
            </a:r>
            <a:endParaRPr sz="1250" b="0" i="0" dirty="0">
              <a:solidFill>
                <a:srgbClr val="9EB8D2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9EB8D2"/>
                </a:solidFill>
                <a:latin typeface="Calibri"/>
              </a:rPr>
              <a:t>YAZ402 —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Yazılım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Gerçekleme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, Test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ve</a:t>
            </a:r>
            <a:r>
              <a:rPr sz="1300" b="0" i="0" dirty="0">
                <a:solidFill>
                  <a:srgbClr val="9EB8D2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EB8D2"/>
                </a:solidFill>
                <a:latin typeface="Calibri"/>
              </a:rPr>
              <a:t>Bakım</a:t>
            </a:r>
            <a:endParaRPr sz="1300" b="0" i="0" dirty="0">
              <a:solidFill>
                <a:srgbClr val="9EB8D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56451"/>
            <a:ext cx="10332720" cy="168789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 i="0" dirty="0">
                <a:solidFill>
                  <a:srgbClr val="F3EFE0"/>
                </a:solidFill>
                <a:latin typeface="Georgia"/>
              </a:rPr>
              <a:t>Final </a:t>
            </a:r>
            <a:r>
              <a:rPr sz="5400" b="1" i="0" dirty="0" err="1">
                <a:solidFill>
                  <a:srgbClr val="F3EFE0"/>
                </a:solidFill>
                <a:latin typeface="Georgia"/>
              </a:rPr>
              <a:t>Proje</a:t>
            </a:r>
            <a:r>
              <a:rPr sz="54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lang="en-US" sz="5400" b="1" i="0" dirty="0" err="1">
                <a:solidFill>
                  <a:srgbClr val="F3EFE0"/>
                </a:solidFill>
                <a:latin typeface="Georgia"/>
              </a:rPr>
              <a:t>Sunumu</a:t>
            </a:r>
            <a:endParaRPr sz="5400" b="1" i="0" dirty="0">
              <a:solidFill>
                <a:srgbClr val="F3EFE0"/>
              </a:solidFill>
              <a:latin typeface="Georgia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dirty="0" err="1">
                <a:solidFill>
                  <a:srgbClr val="FFFFFF"/>
                </a:solidFill>
                <a:latin typeface="Calibri"/>
              </a:rPr>
              <a:t>Yaşca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Diş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Kliniği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Yönetim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Sistemi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 dirty="0" err="1">
                <a:solidFill>
                  <a:srgbClr val="BFD2E6"/>
                </a:solidFill>
                <a:latin typeface="Calibri"/>
              </a:rPr>
              <a:t>Çok-Kiracılı</a:t>
            </a:r>
            <a:r>
              <a:rPr sz="1600" b="0" i="1" dirty="0">
                <a:solidFill>
                  <a:srgbClr val="BFD2E6"/>
                </a:solidFill>
                <a:latin typeface="Calibri"/>
              </a:rPr>
              <a:t> (Multi-Tenant) SaaS </a:t>
            </a:r>
            <a:r>
              <a:rPr sz="1600" b="0" i="1" dirty="0" err="1">
                <a:solidFill>
                  <a:srgbClr val="BFD2E6"/>
                </a:solidFill>
                <a:latin typeface="Calibri"/>
              </a:rPr>
              <a:t>Mimarisi</a:t>
            </a:r>
            <a:endParaRPr sz="1600" b="0" i="1" dirty="0">
              <a:solidFill>
                <a:srgbClr val="BFD2E6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20985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</a:pPr>
            <a:r>
              <a:rPr sz="1400" b="0" i="1" dirty="0" err="1">
                <a:solidFill>
                  <a:srgbClr val="BFD2E6"/>
                </a:solidFill>
                <a:latin typeface="Calibri"/>
              </a:rPr>
              <a:t>Sistem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Analizinden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Test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Sonuçlarına</a:t>
            </a:r>
            <a:r>
              <a:rPr sz="1400" b="0" i="1" dirty="0">
                <a:solidFill>
                  <a:srgbClr val="BFD2E6"/>
                </a:solidFill>
                <a:latin typeface="Calibri"/>
              </a:rPr>
              <a:t> Tam </a:t>
            </a:r>
            <a:r>
              <a:rPr sz="1400" b="0" i="1" dirty="0" err="1">
                <a:solidFill>
                  <a:srgbClr val="BFD2E6"/>
                </a:solidFill>
                <a:latin typeface="Calibri"/>
              </a:rPr>
              <a:t>Dokümantasyon</a:t>
            </a:r>
            <a:endParaRPr sz="1400" b="0" i="1" dirty="0">
              <a:solidFill>
                <a:srgbClr val="BFD2E6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 err="1">
                <a:solidFill>
                  <a:srgbClr val="F3EFE0"/>
                </a:solidFill>
                <a:latin typeface="Calibri"/>
              </a:rPr>
              <a:t>Grup</a:t>
            </a:r>
            <a:r>
              <a:rPr sz="1600" b="1" i="0" dirty="0">
                <a:solidFill>
                  <a:srgbClr val="F3EFE0"/>
                </a:solidFill>
                <a:latin typeface="Calibri"/>
              </a:rPr>
              <a:t> 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solidFill>
                  <a:srgbClr val="CFDDEC"/>
                </a:solidFill>
              </a:rPr>
              <a:t> • 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Yaman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Halloum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Ali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Üre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Cihan </a:t>
            </a:r>
            <a:r>
              <a:rPr sz="1400" b="0" i="0" dirty="0" err="1">
                <a:solidFill>
                  <a:srgbClr val="CFDDEC"/>
                </a:solidFill>
                <a:latin typeface="Calibri"/>
              </a:rPr>
              <a:t>Kurtbey</a:t>
            </a:r>
            <a:r>
              <a:rPr sz="1400" b="0" i="0" dirty="0">
                <a:solidFill>
                  <a:srgbClr val="CFDDEC"/>
                </a:solidFill>
                <a:latin typeface="Calibri"/>
              </a:rPr>
              <a:t>  </a:t>
            </a:r>
            <a:endParaRPr lang="en-US" sz="1400" b="0" i="0" dirty="0">
              <a:solidFill>
                <a:srgbClr val="CFDDEC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CFDDEC"/>
                </a:solidFill>
                <a:latin typeface="Calibri"/>
              </a:rPr>
              <a:t>•  Berkay Aydın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Raporun Genel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1.  Giriş ve Proje Kapsamı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2.  Yazılım Gereksinimleri (FR / NFR)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3.  Detaylı UML Tasarımı (Sekans + Sınıf)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4.  Teknoloji Karar Analizi (DAR)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5. 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İç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ve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Dış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Arayüzler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69748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6.  Birim Test Sonuçları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39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7.  Bakım ve Gelecek Önerileri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0060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800600"/>
            <a:ext cx="4754880" cy="8412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8.  Sonuç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1. Giriş ve Proje Kapsamı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577840" cy="4937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Projenin Amacı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Diş kliniklerinin günlük operasyonlarını dijitalleştiren, hasta kaydı, randevu, tedavi/finans ve dijital odontogram modüllerini tek çatıda sunan çok-kiracılı (multi-tenant) bir SaaS uygulamasıdır. Her kliniğin verisi PostgreSQL şema tabanlı mimariyle fiziksel olarak izole edilir.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Ana Hedefler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Hasta kayıt ve anamnez yönetimini dijitalleştirmek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Çakışma kontrollü randevu ile operasyonel verimlilik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Tedavi + ödeme takibini entegre sunmak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Dijital diş şeması (Odontogram) ile görselleştirme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•  JWT kimlik doğrulama + rol bazlı yetkilendirme (RBAC)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527048"/>
            <a:ext cx="4745736" cy="1965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Hedef Kullanıcılar (Roller)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Yönetici (Admin): klinik ayarları, personel, tüm verilere tam erişim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Hekim (Doktor): kendi hastaları, tedavi girişi, odontogram, dashboard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Asistan: hasta kaydı, randevu oluşturma, ödeme girişi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794760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3995928"/>
            <a:ext cx="4745736" cy="2148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3EFE0"/>
                </a:solidFill>
                <a:latin typeface="Georgia"/>
              </a:rPr>
              <a:t>Kritik Başarı Kriterleri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✓  Randevu çakışması %0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✓  Kiracılar arası veri sızıntısı = sıfır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✓  API yanıt süresi &lt; 2 sn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✓  ≥ 54 birim testin tamamı PASSED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✓  Tüm endpoint'ler Swagger/OpenAPI ile dokümante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2.1. Fonksiyonel İsterler (FR)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Gereksinim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Kimlik Doğrulama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JWT tabanlı güvenli giriş; access + refresh token çifti döndürülmesi.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Hasta Yönetimi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Yeni hasta kaydı + anamnez (tıbbi özgeçmiş); güncelleme ve listeleme.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Randevu Yönetimi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Çakışma kontrollü randevu; aynı hekime aynı tarih-saatte mükerrer randevu engellenir.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Klinik Operasyon (Dashboard)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Günlük özet: bugünkü randevular, tamamlanan işlem sayısı, aktif hasta sayısı.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Tedavi ve Finans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Tedavilerin girilmesi, ödeme kayıtları ve tedavi-finans entegrasyonu.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Sistem Yönetimi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Yöneticinin çalışma saatleri/ayar güncellemesi; 403 ile yalnızca Admin erişimi.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2.2. Fonksiyonel Olmayan İsterler (NFR)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Performans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API sorgu süresi 2 saniyeden az olmalıdır.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Güvenlik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JWT tabanlı kimlik doğrulama + RBAC ile yetkilendirme.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Veri İzolasyonu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Her klinik verisi PostgreSQL şema seviyesinde fiziksel izolasyon.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Ölçeklenebilirlik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Birden fazla kliniğin eşzamanlı kullanımı desteklenmelidir.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Bakım Yapılabilirlik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Modüler mimari + yüksek test kapsamı ile düşük bakım maliyeti.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2B2B2B"/>
                          </a:solidFill>
                          <a:latin typeface="Calibri"/>
                        </a:rPr>
                        <a:t>NFR-06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Kullanılabilirlik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</a:rPr>
                        <a:t>Sezgisel ve Türkçe kullanıcı arayüzü.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5A5A"/>
                </a:solidFill>
                <a:latin typeface="Calibri"/>
              </a:rPr>
              <a:t>Bu kalite nitelikleri, mimari kararların (multi-tenant izolasyon, RBAC, modülerlik) doğrudan gerekçesini oluşturur.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 Detaylı UML Tasarımı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Boundary–Control–Entity ayrımıyla 6 sekans + 2 sınıf diyagramı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5065776" cy="4434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Sekans Diyagramları (Dinamik)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SD-01: Kullanıcı Girişi ve Oturum Doğrulaması (FR-01)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SD-02: Hasta Kaydı ve Anamnez Güncelleme (FR-02)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SD-03: Randevu Oluşturma + Çakışma Kontrolü (FR-03)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SD-04: Günlük Dashboard Özet Akışı (FR-04)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SD-05: Tedavi ve Ödeme Girişi (FR-05)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 SD-06: Klinik Ayarları Güncelleme (FR-06)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257800" cy="480060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664208"/>
            <a:ext cx="4745736" cy="4434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3EFE0"/>
                </a:solidFill>
                <a:latin typeface="Georgia"/>
              </a:rPr>
              <a:t>Sınıf Diyagramları (Statik)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•  Domain Katmanı: 8 veri varlığı (Entity) ve ilişkileri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•  Uygulama Katmanı: Boundary (UI) – Control (ViewSet/Serializer)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Tutarlılık: sekanstaki mesajlar = ApiService metodları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Sorumlulukların ayrılığı: MVC/MVT (Boundary→Control→Entity)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E8EFF6"/>
                </a:solidFill>
                <a:latin typeface="Calibri"/>
              </a:rPr>
              <a:t>◈  Çokluk doğrulaması: Clinic 1..* Patient / CustomUser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0C4270"/>
                </a:solidFill>
                <a:latin typeface="Georgia"/>
              </a:rPr>
              <a:t>3.2.1.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Sınıf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Diyagramı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— Domain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Katmanı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(Veri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Varlıkları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)</a:t>
            </a:r>
          </a:p>
        </p:txBody>
      </p:sp>
      <p:pic>
        <p:nvPicPr>
          <p:cNvPr id="5" name="Picture 4" descr="WhatsApp Image 2026-04-25 at 17.27.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510" y="1371600"/>
            <a:ext cx="5415379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452360" y="1417320"/>
            <a:ext cx="42062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618488"/>
            <a:ext cx="3694176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C4270"/>
                </a:solidFill>
                <a:latin typeface="Georgia"/>
              </a:rPr>
              <a:t>İlişki Türleri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Clinic → Patient : 1..*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Clinic → CustomUser : 1..*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Patient → Anamnesis : 1..1 Composition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Patient → Appointment : 1..* Composition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Appointment → Treatment : 1..* Aggregation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Treatment → Payment : 1..1 Association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TreatmentType → Treatment : 1..* (type)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3.2.2. Sınıf Diyagramı — Uygulama Katmanı (Boundary / Control)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hatsApp Image 2026-04-25 at 17.28.4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4" y="1371600"/>
            <a:ext cx="6603691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641080" y="1417320"/>
            <a:ext cx="3017520" cy="493776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97112" y="1618488"/>
            <a:ext cx="2505456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EFE0"/>
                </a:solidFill>
                <a:latin typeface="Georgia"/>
              </a:rPr>
              <a:t>Stereotipler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•  Boundary (UI): LoginPage, Dashboard, PatientDialog, AppointmentDialog…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•  Control: ApiService (frontend), ViewSet + Serializer (backend)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8EFF6"/>
                </a:solidFill>
                <a:latin typeface="Calibri"/>
              </a:rPr>
              <a:t>◈  Boundary doğrudan Entity ile konuşmaz; araya Control girer.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Hasta Kaydı ve Anamnez Güncelleme (FR-02): PatientDialog → ApiService → PatientViewSet → Patient + Anamnesis</a:t>
            </a:r>
          </a:p>
        </p:txBody>
      </p:sp>
      <p:pic>
        <p:nvPicPr>
          <p:cNvPr id="6" name="Picture 5" descr="WhatsApp Image 2026-04-25 at 17.24.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69" y="1463040"/>
            <a:ext cx="6569901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Randevu Oluşturma ve Çakışma Kontrolü (FR-03): exists() kontrolü → çakışmada 400, uygunlukta 201 (alt fragment)</a:t>
            </a:r>
          </a:p>
        </p:txBody>
      </p:sp>
      <p:pic>
        <p:nvPicPr>
          <p:cNvPr id="6" name="Picture 5" descr="WhatsApp Image 2026-04-25 at 17.06.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42" y="1463040"/>
            <a:ext cx="8676556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Günlük Dashboard Özet Akışı (FR-04): bugünkü randevular + tamamlanan işlem + aktif hasta sayısı tek uç noktadan</a:t>
            </a:r>
          </a:p>
        </p:txBody>
      </p:sp>
      <p:pic>
        <p:nvPicPr>
          <p:cNvPr id="6" name="Picture 5" descr="WhatsApp Image 2026-04-25 at 17.23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37" y="1463040"/>
            <a:ext cx="10395365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3.1. Sekans Diyagramı — SD-06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Klinik Ayarları Güncelleme (FR-06): IsAdminUser yetki kontrolü → admin değilse 403 Forbidden (alt fragment)</a:t>
            </a:r>
          </a:p>
        </p:txBody>
      </p:sp>
      <p:pic>
        <p:nvPicPr>
          <p:cNvPr id="6" name="Picture 5" descr="WhatsApp Image 2026-04-25 at 17.25.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655" y="1463040"/>
            <a:ext cx="6653930" cy="5029200"/>
          </a:xfrm>
          <a:prstGeom prst="rect">
            <a:avLst/>
          </a:prstGeom>
          <a:ln w="9525">
            <a:solidFill>
              <a:srgbClr val="C9C2AD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4. Teknoloji Karar Analizi (DAR)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Alternatifler 1 (en düşük) – 5 (en yüksek) arası puanlandı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Adım 1'deki nesne tabanlı tasarımı en iyi gerçekleyecek teknoloji yığını; performans, ekip yetkinliği, güvenlik ve OOP uyumu kriterleriyle objektif olarak seçildi.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4.4.1. Backend Framework Karar Matrisi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60320"/>
          <a:ext cx="1109167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Django REST (Python)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Express.js (Node)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Spring Boot (Java)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Geliştirme Hızı / Öğrenme Eğrisi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Dahili Güvenlik (Auth / RBAC)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Ekip Yetkinliği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Sınıf Diyagramı (OOP) Uyumluluğu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TOPLAM PUAN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0C4270"/>
                </a:solidFill>
                <a:latin typeface="Calibri"/>
              </a:rPr>
              <a:t>Sonuç: Güvenlik altyapısı ve ekibin hızı göz önüne alınarak Django REST Framework seçilmiştir.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0C4270"/>
                </a:solidFill>
                <a:latin typeface="Georgia"/>
              </a:rPr>
              <a:t>4.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Teknoloji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Karar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Analizi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(DAR) — </a:t>
            </a:r>
            <a:r>
              <a:rPr sz="3000" b="1" i="0" dirty="0" err="1">
                <a:solidFill>
                  <a:srgbClr val="0C4270"/>
                </a:solidFill>
                <a:latin typeface="Georgia"/>
              </a:rPr>
              <a:t>Veritabanı</a:t>
            </a:r>
            <a:r>
              <a:rPr sz="3000" b="1" i="0" dirty="0">
                <a:solidFill>
                  <a:srgbClr val="0C4270"/>
                </a:solidFill>
                <a:latin typeface="Georgia"/>
              </a:rPr>
              <a:t> &amp;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4.4.2. Veri Tabanı Karar Matrisi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4864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MongoDB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Veri Bütünlüğü (ACID)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Sınıf/İlişki Modelleme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Production Ölçeklenebilirlik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Medikal Veri Güvenliği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262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0C4270"/>
                </a:solidFill>
                <a:latin typeface="Calibri"/>
              </a:rPr>
              <a:t>Sonuç: İlişkisel yapı + ölçeklenebilirlik → PostgreSQL.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4.4.3. Frontend Framework Karar Matrisi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645920"/>
          <a:ext cx="54864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Kriter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React.js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Vue.js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Angular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Topluluk Desteği / Kaynak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Odontogram için DOM Perf.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Ekip Yetkinliği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Component (Boundary) Uyumu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45262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0C4270"/>
                </a:solidFill>
                <a:latin typeface="Calibri"/>
              </a:rPr>
              <a:t>Sonuç: DOM gücü + ekip tecrübesi → React.js (TypeScript).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413248"/>
            <a:ext cx="10643616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Backend Dil: Python  •  ORM: Django ORM (ForeignKey ile 1..* ilişkiler)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Python: hızlı prototipleme + zengin güvenlik/şifreleme kütüphaneleri (Java'ya karşı tercih).  Django ORM: sınıf diyagramı nesnelerini tablolara birebir eşler (mapping).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5. İç ve Dış Arayüzler — API Endpoint Kontratları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29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Opsiyon A • Swagger (drf-spectacular) ile canlı dokümantasyon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C4270"/>
                </a:solidFill>
                <a:latin typeface="Georgia"/>
              </a:rPr>
              <a:t>A) POST /api/auth/token/  (FR-01)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{"username": "...", "password": "..."}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200 OK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{"access": "eyJ...", "refresh": "eyJ..."}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Hata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401 Unauthorized • 400 Bad 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C4270"/>
                </a:solidFill>
                <a:latin typeface="Georgia"/>
              </a:rPr>
              <a:t>C) POST /api/appointments/  (FR-03)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7830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{"patient":15,"doctor":3,"date":"2026-06-15","time":"14:30"}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201 Created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Oluşturulan randevu nesnesi (id: 42)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B2B2B"/>
                          </a:solidFill>
                          <a:latin typeface="Calibri"/>
                        </a:rPr>
                        <a:t>Hata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400 (Çakışma/Conflict) • 403 Forbidden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576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858768"/>
            <a:ext cx="4974336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D) GET /api/dashboard/today/  (FR-04)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today_appointments: [...]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today_total: 12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today_completed: 4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total_patients: 150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Tek uç noktadan günlük özet (tamamlanan + aktif hasta).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3858768"/>
            <a:ext cx="4974336" cy="2286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3EFE0"/>
                </a:solidFill>
                <a:latin typeface="Georgia"/>
              </a:rPr>
              <a:t>Katmanlar Arası İletişim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Model ↔ ViewSet ↔ Serializer: JSON paketleri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AppointmentViewSet: get_serializer_class ile create/update ayrımı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Serializer.validate(): FR-03 çakışma algoritması (400)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8EFF6"/>
                </a:solidFill>
                <a:latin typeface="Calibri"/>
              </a:rPr>
              <a:t>•  RBAC: doctor yalnız kendi randevularını görür (get_queryset)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5.3. Dış Servis Entegrasyonu &amp; Multi-Tenant Mimarisi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4974336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Harici SMS Sağlayıcı Entegrasyonu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Randevu oluşturulduğunda harici SMS API'sine bildirim isteği atılır.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Payload: { api_key, phone_number, message 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Hata yönetimi: SMS API timeout olursa işlem ÇÖKMEZ;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hata log'a yazılır, randevu asenkron tamamlanır.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Frontend: axios + JWT (Bearer) interceptor ile otomatik header.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664208"/>
            <a:ext cx="4882896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3EFE0"/>
                </a:solidFill>
                <a:latin typeface="Georgia"/>
              </a:rPr>
              <a:t>Multi-Tenant (SaaS) Mimarisi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django-tenants ile çoklu kiracı yapısı (schema-per-tenant).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HeaderTenantMiddleware: Request'teki domain/tenant kimliğini okur.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İlgili kliniğin PostgreSQL şemasına yönlendirir.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•  Sonuç: veri güvenliği fiziksel izolasyon ile sağlanır.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8EFF6"/>
                </a:solidFill>
                <a:latin typeface="Calibri"/>
              </a:rPr>
              <a:t>◈  Kiracılar arası veri sızıntısı mimari düzeyde imkânsız.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6. Birim Test Sonuçları — Ortam ve Kritik Sınıflar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6.1. Test Ortamı ve Araçlar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4864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Araç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Görevi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pytest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Test koşum motoru (sade assert)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pytest-django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İzole, otomatik rollback'li DB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factory-boy + Faker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Türkçe sahte test verisi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unittest.mock / monkeypatch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Bağımlılık taklidi (mocking)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C4270"/>
                </a:solidFill>
                <a:latin typeface="Georgia"/>
              </a:rPr>
              <a:t>6.2. Test Edilen 5 Kritik Sınıf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45920"/>
          <a:ext cx="5486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Metot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Mock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validate()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__call__()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Evet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RegisterClinicView / CheckDomainView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post() / get()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Evet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PatientSerializer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create / update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B2B2B"/>
                          </a:solidFill>
                          <a:latin typeface="Calibri"/>
                        </a:rPr>
                        <a:t>TreatmentSerializer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validate()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B2B2B"/>
                          </a:solidFill>
                          <a:latin typeface="Calibri"/>
                        </a:rPr>
                        <a:t>Hayır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1106424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C4270"/>
                </a:solidFill>
                <a:latin typeface="Georgia"/>
              </a:rPr>
              <a:t>Test Tasarım Metodolojisi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✓  Pozitif senaryo: Girdiler beklenen aralıkta olduğunda metodun doğru sonucu üretmesi (ör. boş randevu saatinin kabulü).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✓  Negatif senaryo: Hatalı/geçersiz girdilerle sistemin doğru şekilde hata fırlatması veya işlemi reddetmesi (ör. çakışan randevunun ValidationError ile reddi).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Önemli: Negatif senaryolarda kodun doğru şekilde hatayı reddetmesi testin BAŞARILI (PASSED) sayıldığı anlamına gelir.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6.3. Birim Test Sonuç Matrisi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Koşum: pytest test_serializers.py test_middleware.py test_register.py → 54 passed. Aşağıda temsilî satırlar listelenmiştir.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 ID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Hedef Sınıf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Metot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Tür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  <a:r>
                        <a:rPr sz="10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Açıklaması</a:t>
                      </a:r>
                      <a:endParaRPr sz="105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Durum</a:t>
                      </a:r>
                    </a:p>
                  </a:txBody>
                  <a:tcPr marL="63500" marR="50800" marT="25400" marB="25400" anchor="ctr">
                    <a:solidFill>
                      <a:srgbClr val="0E5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UT-001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Aynı hekim/tarih/saatte ikinci randevu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AppointmentCreateSerializer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Pozitif</a:t>
                      </a:r>
                      <a:endParaRPr sz="9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Aynı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hekime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farklı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saatte</a:t>
                      </a:r>
                      <a:r>
                        <a:rPr sz="9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randevu</a:t>
                      </a:r>
                      <a:endParaRPr sz="9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UT-006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__call__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Pozitif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X-Tenant header ile doğru kiracı (mock)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HeaderTenantMiddleware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__call__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Public tenant tanımsızken eşleşme yok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UT-014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RegisterClinicView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Zorunlu alan (admin_password) eksik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UT-018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CheckDomainView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Boş subdomain parametresi ile sorgu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UT-022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PatientSerializer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Telefon (zorunlu) olmadan kayıt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A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2B2B2B"/>
                          </a:solidFill>
                          <a:latin typeface="Calibri"/>
                        </a:rPr>
                        <a:t>UT-025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TreatmentSerializer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Negatif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2B2B2B"/>
                          </a:solidFill>
                          <a:latin typeface="Calibri"/>
                        </a:rPr>
                        <a:t>Aynı gün/diş mükerrer tedavi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i="0" dirty="0">
                          <a:solidFill>
                            <a:srgbClr val="1F9D55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C4270"/>
                </a:solidFill>
                <a:latin typeface="Calibri"/>
              </a:rPr>
              <a:t>Özet:  25 temsilî senaryo (13 Pozitif + 12 Negatif) — TÜMÜ PASSED.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İlgili 3 test dosyasının tam koşumu: 54 / 54 PASSED. Bağımlılıklar (DB, kiracı modeli, şema işlemleri) monkeypatch / MagicMock ile taklit edilerek metotlar gerçekten izole edilmiştir.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7. Bakım ve Gelecek Önerileri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18488"/>
            <a:ext cx="3054096" cy="4480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0E5189"/>
                </a:solidFill>
                <a:latin typeface="Calibri"/>
              </a:rPr>
              <a:t>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Refactoring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İhtiyaçları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Servis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Katmanı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(Service Layer)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ayrımı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iş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kurallarını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ViewSet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Serializer'dan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ayırmak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Test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kapsamını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genişletme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entegrasyon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+ E2E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testleri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Merkezi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hata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yönetimi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RFC 7807 Problem Details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formatı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9392" y="141732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618488"/>
            <a:ext cx="3054096" cy="4480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0E5189"/>
                </a:solidFill>
                <a:latin typeface="Calibri"/>
              </a:rPr>
              <a:t>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Yeni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Özellik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Önerileri</a:t>
            </a:r>
            <a:endParaRPr sz="1600" b="1" i="0" dirty="0">
              <a:solidFill>
                <a:srgbClr val="0C427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Gerçek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SMS/WhatsApp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ile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randevu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hatırlatma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Takvimde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sürükle-bırak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(drag &amp; drop)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Dijital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röntgen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görüntü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dosyaları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Raporlama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gelir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, hasta,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tedavi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istatistikleri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Mobil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uygulama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(React Native)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Çok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dilli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destek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(i18n)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17320"/>
            <a:ext cx="3630168" cy="4846320"/>
          </a:xfrm>
          <a:prstGeom prst="roundRect">
            <a:avLst>
              <a:gd name="adj" fmla="val 6000"/>
            </a:avLst>
          </a:prstGeom>
          <a:solidFill>
            <a:srgbClr val="0E5189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66176" y="1618488"/>
            <a:ext cx="3118104" cy="4480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 dirty="0">
                <a:solidFill>
                  <a:srgbClr val="F3EFE0"/>
                </a:solidFill>
                <a:latin typeface="Calibri"/>
              </a:rPr>
              <a:t>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 err="1">
                <a:solidFill>
                  <a:srgbClr val="F3EFE0"/>
                </a:solidFill>
                <a:latin typeface="Georgia"/>
              </a:rPr>
              <a:t>Versiyon</a:t>
            </a:r>
            <a:r>
              <a:rPr sz="16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Güncelleme</a:t>
            </a:r>
            <a:r>
              <a:rPr sz="1600" b="1" i="0" dirty="0">
                <a:solidFill>
                  <a:srgbClr val="F3EFE0"/>
                </a:solidFill>
                <a:latin typeface="Georgia"/>
              </a:rPr>
              <a:t> </a:t>
            </a:r>
            <a:r>
              <a:rPr sz="1600" b="1" i="0" dirty="0" err="1">
                <a:solidFill>
                  <a:srgbClr val="F3EFE0"/>
                </a:solidFill>
                <a:latin typeface="Georgia"/>
              </a:rPr>
              <a:t>Planı</a:t>
            </a:r>
            <a:endParaRPr sz="1600" b="1" i="0" dirty="0">
              <a:solidFill>
                <a:srgbClr val="F3EFE0"/>
              </a:solidFill>
              <a:latin typeface="Georgia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v1.1 — SMS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takvim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drag&amp;drop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(2025 Q3)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v1.2 —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Raporlama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+ PDF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çıktı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(2025 Q4)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v2.0 — Mobil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çok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dilli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(2026 Q1)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E8EFF6"/>
                </a:solidFill>
                <a:latin typeface="Calibri"/>
              </a:rPr>
              <a:t>•  v2.1 —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Röntgen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+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gelişmiş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8EFF6"/>
                </a:solidFill>
                <a:latin typeface="Calibri"/>
              </a:rPr>
              <a:t>analitik</a:t>
            </a:r>
            <a:r>
              <a:rPr sz="1200" b="0" i="0" dirty="0">
                <a:solidFill>
                  <a:srgbClr val="E8EFF6"/>
                </a:solidFill>
                <a:latin typeface="Calibri"/>
              </a:rPr>
              <a:t> (2026 Q2)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C4270"/>
                </a:solidFill>
                <a:latin typeface="Georgia"/>
              </a:rPr>
              <a:t>8.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1064240" cy="38100"/>
          </a:xfrm>
          <a:prstGeom prst="rect">
            <a:avLst/>
          </a:prstGeom>
          <a:solidFill>
            <a:srgbClr val="0C4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943600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2B2B2B"/>
                </a:solidFill>
                <a:latin typeface="Calibri"/>
              </a:rPr>
              <a:t>“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Yaşca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Diş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Kliniği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Yönetim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Sistemi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”;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analiz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tasarım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gerçekleme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, test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ve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bakım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aşamalarının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tamamını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kapsayacak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şekilde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Calibri"/>
              </a:rPr>
              <a:t>geliştirilmiştir</a:t>
            </a:r>
            <a:r>
              <a:rPr sz="1400" b="0" i="0" dirty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1'de 6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fonksiyonel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gereksinim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(FR-01…06) UML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modellendi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2'de DAR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teknoloji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yığını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karar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matrisleriyle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seçildi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3'te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arayüzler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Swagger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dokümante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edilip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multi-tenant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altyapı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kodlandı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Adım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4'te 5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kritik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sınıf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birim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test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ile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A5A5A"/>
                </a:solidFill>
                <a:latin typeface="Calibri"/>
              </a:rPr>
              <a:t>doğrulandı</a:t>
            </a:r>
            <a:r>
              <a:rPr sz="1250" b="0" i="0" dirty="0">
                <a:solidFill>
                  <a:srgbClr val="5A5A5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 dirty="0">
                <a:solidFill>
                  <a:srgbClr val="0C4270"/>
                </a:solidFill>
                <a:latin typeface="Georgia"/>
              </a:rPr>
              <a:t>Temel </a:t>
            </a:r>
            <a:r>
              <a:rPr sz="1600" b="1" i="0" dirty="0" err="1">
                <a:solidFill>
                  <a:srgbClr val="0C4270"/>
                </a:solidFill>
                <a:latin typeface="Georgia"/>
              </a:rPr>
              <a:t>Çıktılar</a:t>
            </a:r>
            <a:r>
              <a:rPr sz="1600" b="1" i="0" dirty="0">
                <a:solidFill>
                  <a:srgbClr val="0C4270"/>
                </a:solidFill>
                <a:latin typeface="Georgia"/>
              </a:rPr>
              <a:t>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Uçtan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uca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test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edilmiş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modüller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Standartlara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uygun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UML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dokümantasyonu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Teknik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karar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verme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yetkinliği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(DAR)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Ölçeklenebilir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multi-tenant SaaS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mimarisi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dirty="0">
                <a:solidFill>
                  <a:srgbClr val="2B2B2B"/>
                </a:solidFill>
                <a:latin typeface="Calibri"/>
              </a:rPr>
              <a:t>✓  Swagger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ile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canlı</a:t>
            </a:r>
            <a:r>
              <a:rPr sz="1300" b="0" i="0" dirty="0">
                <a:solidFill>
                  <a:srgbClr val="2B2B2B"/>
                </a:solidFill>
                <a:latin typeface="Calibri"/>
              </a:rPr>
              <a:t> API </a:t>
            </a:r>
            <a:r>
              <a:rPr sz="1300" b="0" i="0" dirty="0" err="1">
                <a:solidFill>
                  <a:srgbClr val="2B2B2B"/>
                </a:solidFill>
                <a:latin typeface="Calibri"/>
              </a:rPr>
              <a:t>dokümantasyonu</a:t>
            </a:r>
            <a:endParaRPr sz="13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800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C4270"/>
                </a:solidFill>
                <a:latin typeface="Georgia"/>
              </a:rPr>
              <a:t>Sayılarla Yaşca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2316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54 /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42316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2B2B2B"/>
                </a:solidFill>
                <a:latin typeface="Calibri"/>
              </a:rPr>
              <a:t>birim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test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63239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063239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 err="1">
                <a:solidFill>
                  <a:srgbClr val="2B2B2B"/>
                </a:solidFill>
                <a:latin typeface="Calibri"/>
              </a:rPr>
              <a:t>fonksiyonel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gereksinim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(FR)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70332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70332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2B2B2B"/>
                </a:solidFill>
                <a:latin typeface="Calibri"/>
              </a:rPr>
              <a:t>NFR + 3 DAR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karar</a:t>
            </a:r>
            <a:r>
              <a:rPr sz="120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Calibri"/>
              </a:rPr>
              <a:t>matrisi</a:t>
            </a:r>
            <a:endParaRPr sz="1200" b="0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4343400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343400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domain varlığı (sınıf diyagramı)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983479"/>
            <a:ext cx="14173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5189"/>
                </a:solidFill>
                <a:latin typeface="Georgia"/>
              </a:rPr>
              <a:t>%0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983479"/>
            <a:ext cx="2697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kiracılar arası veri sızıntısı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2087</Words>
  <Application>Microsoft Office PowerPoint</Application>
  <PresentationFormat>Widescreen</PresentationFormat>
  <Paragraphs>383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ALİ ÜRE</cp:lastModifiedBy>
  <cp:revision>2</cp:revision>
  <dcterms:created xsi:type="dcterms:W3CDTF">2013-01-27T09:14:16Z</dcterms:created>
  <dcterms:modified xsi:type="dcterms:W3CDTF">2026-06-02T16:21:25Z</dcterms:modified>
  <cp:category/>
</cp:coreProperties>
</file>